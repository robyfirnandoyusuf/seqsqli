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764" autoAdjust="0"/>
  </p:normalViewPr>
  <p:slideViewPr>
    <p:cSldViewPr snapToGrid="0" snapToObjects="1">
      <p:cViewPr varScale="1">
        <p:scale>
          <a:sx n="82" d="100"/>
          <a:sy n="82" d="100"/>
        </p:scale>
        <p:origin x="11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269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[ID] Slide pembuka. Sebut nama proyek, ini laporan progress, dan tanggal. Tujuan SeqSQLi: melatih agen RL untuk mem-bypass WAF lewat URUTAN mutasi.</a:t>
            </a:r>
          </a:p>
          <a:p>
            <a:endParaRPr/>
          </a:p>
          <a:p>
            <a:r>
              <a:t>[EN] Opening. State the project, that this is a progress report, and the date. SeqSQLi trains an RL agent to bypass WAFs via a SEQUENCE of mutations.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Tiga </a:t>
            </a:r>
            <a:r>
              <a:rPr dirty="0" err="1"/>
              <a:t>pertanyaan</a:t>
            </a:r>
            <a:r>
              <a:rPr dirty="0"/>
              <a:t> </a:t>
            </a:r>
            <a:r>
              <a:rPr dirty="0" err="1"/>
              <a:t>riset</a:t>
            </a:r>
            <a:r>
              <a:rPr dirty="0"/>
              <a:t>. RQ1 = </a:t>
            </a:r>
            <a:r>
              <a:rPr dirty="0" err="1"/>
              <a:t>algoritma</a:t>
            </a:r>
            <a:r>
              <a:rPr dirty="0"/>
              <a:t> mana </a:t>
            </a:r>
            <a:r>
              <a:rPr dirty="0" err="1"/>
              <a:t>terbaik</a:t>
            </a:r>
            <a:r>
              <a:rPr dirty="0"/>
              <a:t>. RQ2 = </a:t>
            </a:r>
            <a:r>
              <a:rPr dirty="0" err="1"/>
              <a:t>apakah</a:t>
            </a:r>
            <a:r>
              <a:rPr dirty="0"/>
              <a:t> policy </a:t>
            </a:r>
            <a:r>
              <a:rPr dirty="0" err="1"/>
              <a:t>dari</a:t>
            </a:r>
            <a:r>
              <a:rPr dirty="0"/>
              <a:t> WAF rule-based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dipindah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WAF ML-based. RQ3 = </a:t>
            </a:r>
            <a:r>
              <a:rPr dirty="0" err="1"/>
              <a:t>apakah</a:t>
            </a:r>
            <a:r>
              <a:rPr dirty="0"/>
              <a:t> </a:t>
            </a:r>
            <a:r>
              <a:rPr dirty="0" err="1"/>
              <a:t>urutan</a:t>
            </a:r>
            <a:r>
              <a:rPr dirty="0"/>
              <a:t> </a:t>
            </a:r>
            <a:r>
              <a:rPr dirty="0" err="1"/>
              <a:t>mutasi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.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; </a:t>
            </a:r>
            <a:r>
              <a:rPr dirty="0" err="1"/>
              <a:t>baru</a:t>
            </a:r>
            <a:r>
              <a:rPr dirty="0"/>
              <a:t> </a:t>
            </a:r>
            <a:r>
              <a:rPr dirty="0" err="1"/>
              <a:t>minggu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= RQ1 error + RQ2 </a:t>
            </a:r>
            <a:r>
              <a:rPr dirty="0" err="1"/>
              <a:t>Safeline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[EN] Three research questions. RQ1 = which algorithm is best. RQ2 = does a rule-based policy move to an ML-based WAF. RQ3 = does mutation order matter. All have results; new this week = RQ1 error + RQ2 </a:t>
            </a:r>
            <a:r>
              <a:rPr dirty="0" err="1"/>
              <a:t>Safeline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[ID] Slide referensi 2 metrik (jelaskan SEBELUM tabel hasil). IFNR = seberapa SERING agen tembus (tinggi = bagus); karena WAF blok semua payload mentah (FNR0=0), IFNR ≈ tingkat keberhasilan agen. SPBARC = seberapa HEMAT: rata-rata berapa kali coba (request) untuk 1 bypass (rendah = bagus). Agen ideal: IFNR tinggi + SPBARC rendah. TRPO menang dua-duanya.</a:t>
            </a:r>
          </a:p>
          <a:p>
            <a:endParaRPr/>
          </a:p>
          <a:p>
            <a:r>
              <a:t>[EN] Metrics reference (explain BEFORE the result tables). IFNR = how OFTEN the agent breaks through (higher = better); since the WAF blocks all raw payloads (FNR0=0), IFNR ≈ the agent's success rate. SPBARC = how EFFICIENT: average tries (requests) per bypass (lower = better). Ideal agent: high IFNR + low SPBARC. TRPO wins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[ID] Hasil utama RQ1 (union, ModSec). TRPO menang telak (IFNR 99%), lalu PPO, lalu A2C. Ketiganya kuasai tier mudah/medium; pembedanya tier COMPLEX (rantai mutasi terpanjang). SPBARC TRPO paling kecil = paling efisien.</a:t>
            </a:r>
          </a:p>
          <a:p>
            <a:endParaRPr/>
          </a:p>
          <a:p>
            <a:r>
              <a:t>[EN] Main RQ1 result (union, ModSec). TRPO clearly wins (IFNR 99%), then PPO, then A2C. All master the easy/medium tiers; the differentiator is the COMPLEX tier (longest chains). TRPO's SPBARC is lowest = most 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Hasil BARU: corpus error-based, </a:t>
            </a:r>
            <a:r>
              <a:rPr dirty="0" err="1"/>
              <a:t>tiap</a:t>
            </a:r>
            <a:r>
              <a:rPr dirty="0"/>
              <a:t> </a:t>
            </a:r>
            <a:r>
              <a:rPr dirty="0" err="1"/>
              <a:t>algoritma</a:t>
            </a:r>
            <a:r>
              <a:rPr dirty="0"/>
              <a:t> </a:t>
            </a:r>
            <a:r>
              <a:rPr dirty="0" err="1"/>
              <a:t>dites</a:t>
            </a:r>
            <a:r>
              <a:rPr dirty="0"/>
              <a:t> 3 kali (3 seed) </a:t>
            </a:r>
            <a:r>
              <a:rPr dirty="0" err="1"/>
              <a:t>biar</a:t>
            </a:r>
            <a:r>
              <a:rPr dirty="0"/>
              <a:t> </a:t>
            </a:r>
            <a:r>
              <a:rPr dirty="0" err="1"/>
              <a:t>adil</a:t>
            </a:r>
            <a:r>
              <a:rPr dirty="0"/>
              <a:t>. (1) Error </a:t>
            </a:r>
            <a:r>
              <a:rPr dirty="0" err="1"/>
              <a:t>jauh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sulit</a:t>
            </a:r>
            <a:r>
              <a:rPr dirty="0"/>
              <a:t>: IFNR </a:t>
            </a:r>
            <a:r>
              <a:rPr dirty="0" err="1"/>
              <a:t>terbaik</a:t>
            </a:r>
            <a:r>
              <a:rPr dirty="0"/>
              <a:t> </a:t>
            </a:r>
            <a:r>
              <a:rPr dirty="0" err="1"/>
              <a:t>anjlok</a:t>
            </a:r>
            <a:r>
              <a:rPr dirty="0"/>
              <a:t> 99%-&gt;30%. (2) Yang TIDAK </a:t>
            </a:r>
            <a:r>
              <a:rPr dirty="0" err="1"/>
              <a:t>konsisten</a:t>
            </a:r>
            <a:r>
              <a:rPr dirty="0"/>
              <a:t> di A2C = </a:t>
            </a:r>
            <a:r>
              <a:rPr dirty="0" err="1"/>
              <a:t>hasil</a:t>
            </a:r>
            <a:r>
              <a:rPr dirty="0"/>
              <a:t>/policy </a:t>
            </a:r>
            <a:r>
              <a:rPr dirty="0" err="1"/>
              <a:t>akhirnya</a:t>
            </a:r>
            <a:r>
              <a:rPr dirty="0"/>
              <a:t>: std ~14% (~7x TRPO/PPO), </a:t>
            </a:r>
            <a:r>
              <a:rPr dirty="0" err="1"/>
              <a:t>bisa</a:t>
            </a:r>
            <a:r>
              <a:rPr dirty="0"/>
              <a:t> 6% </a:t>
            </a:r>
            <a:r>
              <a:rPr dirty="0" err="1"/>
              <a:t>atau</a:t>
            </a:r>
            <a:r>
              <a:rPr dirty="0"/>
              <a:t> 31% </a:t>
            </a:r>
            <a:r>
              <a:rPr dirty="0" err="1"/>
              <a:t>cuma</a:t>
            </a:r>
            <a:r>
              <a:rPr dirty="0"/>
              <a:t> </a:t>
            </a:r>
            <a:r>
              <a:rPr dirty="0" err="1"/>
              <a:t>gara-gara</a:t>
            </a:r>
            <a:r>
              <a:rPr dirty="0"/>
              <a:t> seed </a:t>
            </a:r>
            <a:r>
              <a:rPr dirty="0" err="1"/>
              <a:t>acak</a:t>
            </a:r>
            <a:r>
              <a:rPr dirty="0"/>
              <a:t>. (3) </a:t>
            </a:r>
            <a:r>
              <a:rPr dirty="0" err="1"/>
              <a:t>Untungnya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3x: </a:t>
            </a:r>
            <a:r>
              <a:rPr dirty="0" err="1"/>
              <a:t>satu</a:t>
            </a:r>
            <a:r>
              <a:rPr dirty="0"/>
              <a:t> seed A2C </a:t>
            </a:r>
            <a:r>
              <a:rPr dirty="0" err="1"/>
              <a:t>sempat</a:t>
            </a:r>
            <a:r>
              <a:rPr dirty="0"/>
              <a:t> 0% —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, </a:t>
            </a:r>
            <a:r>
              <a:rPr dirty="0" err="1"/>
              <a:t>klaim</a:t>
            </a:r>
            <a:r>
              <a:rPr dirty="0"/>
              <a:t> 'A2C </a:t>
            </a:r>
            <a:r>
              <a:rPr dirty="0" err="1"/>
              <a:t>kolaps</a:t>
            </a:r>
            <a:r>
              <a:rPr dirty="0"/>
              <a:t>' </a:t>
            </a:r>
            <a:r>
              <a:rPr dirty="0" err="1"/>
              <a:t>itu</a:t>
            </a:r>
            <a:r>
              <a:rPr dirty="0"/>
              <a:t> SALAH.</a:t>
            </a:r>
          </a:p>
          <a:p>
            <a:endParaRPr dirty="0"/>
          </a:p>
          <a:p>
            <a:r>
              <a:rPr dirty="0"/>
              <a:t>[EN] NEW: error-based corpus, each algorithm run 3 times (3 seeds) to be fair. (1) Error is much harder: best IFNR drops 99%-&gt;30%. (2) What is INCONSISTENT in A2C = its final policy/score: std ~14% (~7x TRPO/PPO), lands at 6% or 31% from the random seed alone. (3) Running 3 seeds mattered: one A2C seed was 0% — using it alone would have been a WRONG 'A2C collapses'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</a:t>
            </a:r>
            <a:r>
              <a:rPr dirty="0" err="1"/>
              <a:t>Urutan</a:t>
            </a:r>
            <a:r>
              <a:rPr dirty="0"/>
              <a:t> </a:t>
            </a:r>
            <a:r>
              <a:rPr dirty="0" err="1"/>
              <a:t>mutasi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. 35 </a:t>
            </a:r>
            <a:r>
              <a:rPr dirty="0" err="1"/>
              <a:t>pasangan</a:t>
            </a:r>
            <a:r>
              <a:rPr dirty="0"/>
              <a:t> consensus </a:t>
            </a:r>
            <a:r>
              <a:rPr dirty="0" err="1"/>
              <a:t>lintas-algoritma</a:t>
            </a:r>
            <a:r>
              <a:rPr dirty="0"/>
              <a:t>: </a:t>
            </a:r>
            <a:r>
              <a:rPr dirty="0" err="1"/>
              <a:t>membalik</a:t>
            </a:r>
            <a:r>
              <a:rPr dirty="0"/>
              <a:t> </a:t>
            </a:r>
            <a:r>
              <a:rPr dirty="0" err="1"/>
              <a:t>urutan</a:t>
            </a:r>
            <a:r>
              <a:rPr dirty="0"/>
              <a:t> </a:t>
            </a:r>
            <a:r>
              <a:rPr dirty="0" err="1"/>
              <a:t>menjatuhkan</a:t>
            </a:r>
            <a:r>
              <a:rPr dirty="0"/>
              <a:t> </a:t>
            </a:r>
            <a:r>
              <a:rPr dirty="0" err="1"/>
              <a:t>keberhasilan</a:t>
            </a:r>
            <a:r>
              <a:rPr dirty="0"/>
              <a:t>. </a:t>
            </a:r>
            <a:r>
              <a:rPr dirty="0" err="1"/>
              <a:t>Contoh</a:t>
            </a:r>
            <a:r>
              <a:rPr dirty="0"/>
              <a:t> precondition: </a:t>
            </a:r>
            <a:r>
              <a:rPr dirty="0" err="1"/>
              <a:t>ident_backtick</a:t>
            </a:r>
            <a:r>
              <a:rPr dirty="0"/>
              <a:t> HARUS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hex_to_char</a:t>
            </a:r>
            <a:r>
              <a:rPr dirty="0"/>
              <a:t>. </a:t>
            </a:r>
            <a:r>
              <a:rPr dirty="0" err="1"/>
              <a:t>Maknanya</a:t>
            </a:r>
            <a:r>
              <a:rPr dirty="0"/>
              <a:t>: ordering = </a:t>
            </a:r>
            <a:r>
              <a:rPr dirty="0" err="1"/>
              <a:t>sinyal</a:t>
            </a:r>
            <a:r>
              <a:rPr dirty="0"/>
              <a:t> </a:t>
            </a:r>
            <a:r>
              <a:rPr dirty="0" err="1"/>
              <a:t>struktural</a:t>
            </a:r>
            <a:r>
              <a:rPr dirty="0"/>
              <a:t>/</a:t>
            </a:r>
            <a:r>
              <a:rPr dirty="0" err="1"/>
              <a:t>kausal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topologi</a:t>
            </a:r>
            <a:r>
              <a:rPr dirty="0"/>
              <a:t> </a:t>
            </a:r>
            <a:r>
              <a:rPr dirty="0" err="1"/>
              <a:t>aturan</a:t>
            </a:r>
            <a:r>
              <a:rPr dirty="0"/>
              <a:t> WAF,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kebetulan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algoritma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[EN] Mutation order matters. 35 cross-algorithm consensus pairs: reversing the order drops success. Precondition example: </a:t>
            </a:r>
            <a:r>
              <a:rPr dirty="0" err="1"/>
              <a:t>ident_backtick</a:t>
            </a:r>
            <a:r>
              <a:rPr dirty="0"/>
              <a:t> must precede </a:t>
            </a:r>
            <a:r>
              <a:rPr dirty="0" err="1"/>
              <a:t>hex_to_char</a:t>
            </a:r>
            <a:r>
              <a:rPr dirty="0"/>
              <a:t>. Meaning: ordering is a structural/causal signal from the WAF rule topology, not an algorithm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Zero-shot transfer = </a:t>
            </a:r>
            <a:r>
              <a:rPr dirty="0" err="1"/>
              <a:t>ambil</a:t>
            </a:r>
            <a:r>
              <a:rPr dirty="0"/>
              <a:t> model </a:t>
            </a:r>
            <a:r>
              <a:rPr dirty="0" err="1"/>
              <a:t>dilatih</a:t>
            </a:r>
            <a:r>
              <a:rPr dirty="0"/>
              <a:t> di </a:t>
            </a:r>
            <a:r>
              <a:rPr dirty="0" err="1"/>
              <a:t>ModSec</a:t>
            </a:r>
            <a:r>
              <a:rPr dirty="0"/>
              <a:t>, uji di </a:t>
            </a:r>
            <a:r>
              <a:rPr dirty="0" err="1"/>
              <a:t>Safeline</a:t>
            </a:r>
            <a:r>
              <a:rPr dirty="0"/>
              <a:t> TANPA </a:t>
            </a:r>
            <a:r>
              <a:rPr dirty="0" err="1"/>
              <a:t>latih</a:t>
            </a:r>
            <a:r>
              <a:rPr dirty="0"/>
              <a:t> </a:t>
            </a:r>
            <a:r>
              <a:rPr dirty="0" err="1"/>
              <a:t>ulang</a:t>
            </a:r>
            <a:r>
              <a:rPr dirty="0"/>
              <a:t>. Hasil 0% di SEMUA (12 model); ~900 payload </a:t>
            </a:r>
            <a:r>
              <a:rPr dirty="0" err="1"/>
              <a:t>termutasi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kena</a:t>
            </a:r>
            <a:r>
              <a:rPr dirty="0"/>
              <a:t> 403. </a:t>
            </a:r>
            <a:r>
              <a:rPr dirty="0" err="1"/>
              <a:t>Penting</a:t>
            </a:r>
            <a:r>
              <a:rPr dirty="0"/>
              <a:t>: 0% </a:t>
            </a:r>
            <a:r>
              <a:rPr dirty="0" err="1"/>
              <a:t>ini</a:t>
            </a:r>
            <a:r>
              <a:rPr dirty="0"/>
              <a:t> ASLI, </a:t>
            </a:r>
            <a:r>
              <a:rPr dirty="0" err="1"/>
              <a:t>bukan</a:t>
            </a:r>
            <a:r>
              <a:rPr dirty="0"/>
              <a:t> bug — positive control </a:t>
            </a:r>
            <a:r>
              <a:rPr dirty="0" err="1"/>
              <a:t>buktikan</a:t>
            </a:r>
            <a:r>
              <a:rPr dirty="0"/>
              <a:t> </a:t>
            </a:r>
            <a:r>
              <a:rPr dirty="0" err="1"/>
              <a:t>Safeline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ditembus</a:t>
            </a:r>
            <a:r>
              <a:rPr dirty="0"/>
              <a:t> (PoC manual </a:t>
            </a:r>
            <a:r>
              <a:rPr dirty="0" err="1"/>
              <a:t>balik</a:t>
            </a:r>
            <a:r>
              <a:rPr dirty="0"/>
              <a:t> 200+data). Jadi 0% </a:t>
            </a:r>
            <a:r>
              <a:rPr dirty="0" err="1"/>
              <a:t>murni</a:t>
            </a:r>
            <a:r>
              <a:rPr dirty="0"/>
              <a:t> </a:t>
            </a:r>
            <a:r>
              <a:rPr dirty="0" err="1"/>
              <a:t>karena</a:t>
            </a:r>
            <a:r>
              <a:rPr dirty="0"/>
              <a:t> policy </a:t>
            </a:r>
            <a:r>
              <a:rPr dirty="0" err="1"/>
              <a:t>ModSec</a:t>
            </a:r>
            <a:r>
              <a:rPr dirty="0"/>
              <a:t> 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cocok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WAF ML.</a:t>
            </a:r>
          </a:p>
          <a:p>
            <a:endParaRPr dirty="0"/>
          </a:p>
          <a:p>
            <a:r>
              <a:rPr dirty="0"/>
              <a:t>[EN] Zero-shot transfer = take </a:t>
            </a:r>
            <a:r>
              <a:rPr dirty="0" err="1"/>
              <a:t>ModSec</a:t>
            </a:r>
            <a:r>
              <a:rPr dirty="0"/>
              <a:t>-trained models, test on </a:t>
            </a:r>
            <a:r>
              <a:rPr dirty="0" err="1"/>
              <a:t>Safeline</a:t>
            </a:r>
            <a:r>
              <a:rPr dirty="0"/>
              <a:t> WITHOUT retraining. 0% across ALL (12 models); ~900 mutated payloads all got 403. Important: this 0% is GENUINE, not a bug — a positive control shows </a:t>
            </a:r>
            <a:r>
              <a:rPr dirty="0" err="1"/>
              <a:t>Safeline</a:t>
            </a:r>
            <a:r>
              <a:rPr dirty="0"/>
              <a:t> IS </a:t>
            </a:r>
            <a:r>
              <a:rPr dirty="0" err="1"/>
              <a:t>bypassable</a:t>
            </a:r>
            <a:r>
              <a:rPr dirty="0"/>
              <a:t> (manual PoC returns 200+data). So 0% is purely a policy mismatch to the ML-WAF.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Slide TERPENTING. Tiga </a:t>
            </a:r>
            <a:r>
              <a:rPr dirty="0" err="1"/>
              <a:t>situasi</a:t>
            </a:r>
            <a:r>
              <a:rPr dirty="0"/>
              <a:t>: (a) </a:t>
            </a:r>
            <a:r>
              <a:rPr dirty="0" err="1"/>
              <a:t>ModSec</a:t>
            </a:r>
            <a:r>
              <a:rPr dirty="0"/>
              <a:t> regex: lolos DAN </a:t>
            </a:r>
            <a:r>
              <a:rPr dirty="0" err="1"/>
              <a:t>nyolong</a:t>
            </a:r>
            <a:r>
              <a:rPr dirty="0"/>
              <a:t> data (76-99%). (b) </a:t>
            </a:r>
            <a:r>
              <a:rPr dirty="0" err="1"/>
              <a:t>Safeline</a:t>
            </a:r>
            <a:r>
              <a:rPr dirty="0"/>
              <a:t> transfer: 0/0. (c) </a:t>
            </a:r>
            <a:r>
              <a:rPr dirty="0" err="1"/>
              <a:t>Safeline</a:t>
            </a:r>
            <a:r>
              <a:rPr dirty="0"/>
              <a:t> </a:t>
            </a:r>
            <a:r>
              <a:rPr dirty="0" err="1"/>
              <a:t>dilatih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: lolos WAF ~89% TAPI </a:t>
            </a:r>
            <a:r>
              <a:rPr dirty="0" err="1"/>
              <a:t>nyolong</a:t>
            </a:r>
            <a:r>
              <a:rPr dirty="0"/>
              <a:t> data 0%. Inti: di WAF regex 'lolos' &amp; '</a:t>
            </a:r>
            <a:r>
              <a:rPr dirty="0" err="1"/>
              <a:t>nyolong</a:t>
            </a:r>
            <a:r>
              <a:rPr dirty="0"/>
              <a:t>' </a:t>
            </a:r>
            <a:r>
              <a:rPr dirty="0" err="1"/>
              <a:t>menyatu</a:t>
            </a:r>
            <a:r>
              <a:rPr dirty="0"/>
              <a:t>; di WAF ML </a:t>
            </a:r>
            <a:r>
              <a:rPr dirty="0" err="1"/>
              <a:t>keduanya</a:t>
            </a:r>
            <a:r>
              <a:rPr dirty="0"/>
              <a:t> TERPISAH. 846/972 request = 200 </a:t>
            </a:r>
            <a:r>
              <a:rPr dirty="0" err="1"/>
              <a:t>tapi</a:t>
            </a:r>
            <a:r>
              <a:rPr dirty="0"/>
              <a:t> SQL_ERROR -&gt; lolos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merusak</a:t>
            </a:r>
            <a:r>
              <a:rPr dirty="0"/>
              <a:t> SQL.</a:t>
            </a:r>
          </a:p>
          <a:p>
            <a:endParaRPr dirty="0"/>
          </a:p>
          <a:p>
            <a:r>
              <a:rPr dirty="0"/>
              <a:t>[EN] MOST IMPORTANT slide. Three settings: (a) </a:t>
            </a:r>
            <a:r>
              <a:rPr dirty="0" err="1"/>
              <a:t>ModSec</a:t>
            </a:r>
            <a:r>
              <a:rPr dirty="0"/>
              <a:t> regex: evade AND steal data (76-99%). (b) </a:t>
            </a:r>
            <a:r>
              <a:rPr dirty="0" err="1"/>
              <a:t>Safeline</a:t>
            </a:r>
            <a:r>
              <a:rPr dirty="0"/>
              <a:t> transfer: 0/0. (c) </a:t>
            </a:r>
            <a:r>
              <a:rPr dirty="0" err="1"/>
              <a:t>Safeline</a:t>
            </a:r>
            <a:r>
              <a:rPr dirty="0"/>
              <a:t> trained directly: passes WAF ~89% BUT steals data 0%. Core: on regex-WAFs evade &amp; steal go together; on ML-WAFs they SPLIT. 846/972 requests = 200 but SQL_ERROR -&gt; passing only by breaking the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</a:t>
            </a:r>
            <a:r>
              <a:rPr dirty="0" err="1"/>
              <a:t>Kenapa</a:t>
            </a:r>
            <a:r>
              <a:rPr dirty="0"/>
              <a:t> 'lolos </a:t>
            </a:r>
            <a:r>
              <a:rPr dirty="0" err="1"/>
              <a:t>tapi</a:t>
            </a:r>
            <a:r>
              <a:rPr dirty="0"/>
              <a:t> nihil'. </a:t>
            </a:r>
            <a:r>
              <a:rPr dirty="0" err="1"/>
              <a:t>Detektor</a:t>
            </a:r>
            <a:r>
              <a:rPr dirty="0"/>
              <a:t> ML </a:t>
            </a:r>
            <a:r>
              <a:rPr dirty="0" err="1"/>
              <a:t>menilai</a:t>
            </a:r>
            <a:r>
              <a:rPr dirty="0"/>
              <a:t> </a:t>
            </a:r>
            <a:r>
              <a:rPr dirty="0" err="1"/>
              <a:t>makna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pola</a:t>
            </a:r>
            <a:r>
              <a:rPr dirty="0"/>
              <a:t> </a:t>
            </a:r>
            <a:r>
              <a:rPr dirty="0" err="1"/>
              <a:t>permukaan</a:t>
            </a:r>
            <a:r>
              <a:rPr dirty="0"/>
              <a:t>. Agar </a:t>
            </a:r>
            <a:r>
              <a:rPr dirty="0" err="1"/>
              <a:t>terlihat</a:t>
            </a:r>
            <a:r>
              <a:rPr dirty="0"/>
              <a:t> benign, </a:t>
            </a:r>
            <a:r>
              <a:rPr dirty="0" err="1"/>
              <a:t>agen</a:t>
            </a:r>
            <a:r>
              <a:rPr dirty="0"/>
              <a:t> </a:t>
            </a:r>
            <a:r>
              <a:rPr dirty="0" err="1"/>
              <a:t>konvergen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rantai</a:t>
            </a:r>
            <a:r>
              <a:rPr dirty="0"/>
              <a:t> </a:t>
            </a:r>
            <a:r>
              <a:rPr dirty="0" err="1"/>
              <a:t>perusak</a:t>
            </a:r>
            <a:r>
              <a:rPr dirty="0"/>
              <a:t>: double-</a:t>
            </a:r>
            <a:r>
              <a:rPr dirty="0" err="1"/>
              <a:t>url</a:t>
            </a:r>
            <a:r>
              <a:rPr dirty="0"/>
              <a:t>-encode </a:t>
            </a:r>
            <a:r>
              <a:rPr dirty="0" err="1"/>
              <a:t>bikin</a:t>
            </a:r>
            <a:r>
              <a:rPr dirty="0"/>
              <a:t> UNION </a:t>
            </a:r>
            <a:r>
              <a:rPr dirty="0" err="1"/>
              <a:t>bukan</a:t>
            </a:r>
            <a:r>
              <a:rPr dirty="0"/>
              <a:t> keyword </a:t>
            </a:r>
            <a:r>
              <a:rPr dirty="0" err="1"/>
              <a:t>lagi</a:t>
            </a:r>
            <a:r>
              <a:rPr dirty="0"/>
              <a:t>; </a:t>
            </a:r>
            <a:r>
              <a:rPr dirty="0" err="1"/>
              <a:t>trik</a:t>
            </a:r>
            <a:r>
              <a:rPr dirty="0"/>
              <a:t> GBK </a:t>
            </a:r>
            <a:r>
              <a:rPr dirty="0" err="1"/>
              <a:t>merusak</a:t>
            </a:r>
            <a:r>
              <a:rPr dirty="0"/>
              <a:t> quote di backend UTF-8. </a:t>
            </a:r>
            <a:r>
              <a:rPr dirty="0" err="1"/>
              <a:t>Akibatnya</a:t>
            </a:r>
            <a:r>
              <a:rPr dirty="0"/>
              <a:t> </a:t>
            </a:r>
            <a:r>
              <a:rPr dirty="0" err="1"/>
              <a:t>Safeline</a:t>
            </a:r>
            <a:r>
              <a:rPr dirty="0"/>
              <a:t> </a:t>
            </a:r>
            <a:r>
              <a:rPr dirty="0" err="1"/>
              <a:t>maupun</a:t>
            </a:r>
            <a:r>
              <a:rPr dirty="0"/>
              <a:t> MySQL 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lihat</a:t>
            </a:r>
            <a:r>
              <a:rPr dirty="0"/>
              <a:t> SQL valid -&gt; lolos (200) </a:t>
            </a:r>
            <a:r>
              <a:rPr dirty="0" err="1"/>
              <a:t>tapi</a:t>
            </a:r>
            <a:r>
              <a:rPr dirty="0"/>
              <a:t> error (</a:t>
            </a:r>
            <a:r>
              <a:rPr dirty="0" err="1"/>
              <a:t>tak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data). Pelajaran: di WAF ML, </a:t>
            </a:r>
            <a:r>
              <a:rPr dirty="0" err="1"/>
              <a:t>agen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lolos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mengorbankan</a:t>
            </a:r>
            <a:r>
              <a:rPr dirty="0"/>
              <a:t> </a:t>
            </a:r>
            <a:r>
              <a:rPr dirty="0" err="1"/>
              <a:t>serangannya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[EN] Why 'passes but nothing'. The ML detector judges meaning, not surface patterns. To look harmless, the agent converges to one destructive chain: double-URL-encoding makes UNION not a keyword; the GBK trick breaks the quote on a UTF-8 backend. So neither </a:t>
            </a:r>
            <a:r>
              <a:rPr dirty="0" err="1"/>
              <a:t>Safeline</a:t>
            </a:r>
            <a:r>
              <a:rPr dirty="0"/>
              <a:t> nor MySQL sees valid SQL -&gt; passes (200) but errors (no data). Lesson: on ML-WAFs the agent can only evade by sacrificing its own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Yang </a:t>
            </a:r>
            <a:r>
              <a:rPr dirty="0" err="1"/>
              <a:t>sedang</a:t>
            </a:r>
            <a:r>
              <a:rPr dirty="0"/>
              <a:t> </a:t>
            </a:r>
            <a:r>
              <a:rPr dirty="0" err="1"/>
              <a:t>dikerjakan</a:t>
            </a:r>
            <a:r>
              <a:rPr dirty="0"/>
              <a:t>. </a:t>
            </a:r>
            <a:r>
              <a:rPr dirty="0" err="1"/>
              <a:t>Pertanyaan</a:t>
            </a:r>
            <a:r>
              <a:rPr dirty="0"/>
              <a:t>: </a:t>
            </a:r>
            <a:r>
              <a:rPr dirty="0" err="1"/>
              <a:t>bisakah</a:t>
            </a:r>
            <a:r>
              <a:rPr dirty="0"/>
              <a:t> </a:t>
            </a:r>
            <a:r>
              <a:rPr dirty="0" err="1"/>
              <a:t>agen</a:t>
            </a:r>
            <a:r>
              <a:rPr dirty="0"/>
              <a:t> lolos </a:t>
            </a:r>
            <a:r>
              <a:rPr dirty="0" err="1"/>
              <a:t>Safeline</a:t>
            </a:r>
            <a:r>
              <a:rPr dirty="0"/>
              <a:t> TANPA </a:t>
            </a:r>
            <a:r>
              <a:rPr dirty="0" err="1"/>
              <a:t>merusak</a:t>
            </a:r>
            <a:r>
              <a:rPr dirty="0"/>
              <a:t> SQL? Kita </a:t>
            </a:r>
            <a:r>
              <a:rPr dirty="0" err="1"/>
              <a:t>tambah</a:t>
            </a:r>
            <a:r>
              <a:rPr dirty="0"/>
              <a:t> operator </a:t>
            </a:r>
            <a:r>
              <a:rPr dirty="0" err="1"/>
              <a:t>div_break</a:t>
            </a:r>
            <a:r>
              <a:rPr dirty="0"/>
              <a:t> (</a:t>
            </a:r>
            <a:r>
              <a:rPr dirty="0" err="1"/>
              <a:t>sisip</a:t>
            </a:r>
            <a:r>
              <a:rPr dirty="0"/>
              <a:t> /0) </a:t>
            </a:r>
            <a:r>
              <a:rPr dirty="0" err="1"/>
              <a:t>dari</a:t>
            </a:r>
            <a:r>
              <a:rPr dirty="0"/>
              <a:t> PoC manual, </a:t>
            </a:r>
            <a:r>
              <a:rPr dirty="0" err="1"/>
              <a:t>ekstraksi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utuh</a:t>
            </a:r>
            <a:r>
              <a:rPr dirty="0"/>
              <a:t>. Langkah </a:t>
            </a:r>
            <a:r>
              <a:rPr dirty="0" err="1"/>
              <a:t>hemat</a:t>
            </a:r>
            <a:r>
              <a:rPr dirty="0"/>
              <a:t>: </a:t>
            </a:r>
            <a:r>
              <a:rPr dirty="0" err="1"/>
              <a:t>jalankan</a:t>
            </a:r>
            <a:r>
              <a:rPr dirty="0"/>
              <a:t> PROBE </a:t>
            </a:r>
            <a:r>
              <a:rPr dirty="0" err="1"/>
              <a:t>dulu</a:t>
            </a:r>
            <a:r>
              <a:rPr dirty="0"/>
              <a:t> (</a:t>
            </a:r>
            <a:r>
              <a:rPr dirty="0" err="1"/>
              <a:t>tanpa</a:t>
            </a:r>
            <a:r>
              <a:rPr dirty="0"/>
              <a:t> training)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cek</a:t>
            </a:r>
            <a:r>
              <a:rPr dirty="0"/>
              <a:t> </a:t>
            </a:r>
            <a:r>
              <a:rPr dirty="0" err="1"/>
              <a:t>apakah</a:t>
            </a:r>
            <a:r>
              <a:rPr dirty="0"/>
              <a:t> payload /0 </a:t>
            </a:r>
            <a:r>
              <a:rPr dirty="0" err="1"/>
              <a:t>bisa</a:t>
            </a:r>
            <a:r>
              <a:rPr dirty="0"/>
              <a:t> lolos WAF </a:t>
            </a:r>
            <a:r>
              <a:rPr dirty="0" err="1"/>
              <a:t>sekaligus</a:t>
            </a:r>
            <a:r>
              <a:rPr dirty="0"/>
              <a:t> </a:t>
            </a:r>
            <a:r>
              <a:rPr dirty="0" err="1"/>
              <a:t>mengembalikan</a:t>
            </a:r>
            <a:r>
              <a:rPr dirty="0"/>
              <a:t> marker. Retrain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kalau</a:t>
            </a:r>
            <a:r>
              <a:rPr dirty="0"/>
              <a:t> probe </a:t>
            </a:r>
            <a:r>
              <a:rPr dirty="0" err="1"/>
              <a:t>menjanjikan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[EN] In progress. Question: can the agent evade </a:t>
            </a:r>
            <a:r>
              <a:rPr dirty="0" err="1"/>
              <a:t>Safeline</a:t>
            </a:r>
            <a:r>
              <a:rPr dirty="0"/>
              <a:t> WITHOUT breaking the SQL? We added </a:t>
            </a:r>
            <a:r>
              <a:rPr dirty="0" err="1"/>
              <a:t>div_break</a:t>
            </a:r>
            <a:r>
              <a:rPr dirty="0"/>
              <a:t> (insert /0) from the manual PoC, extraction intact. Cost-saving step: run a PROBE first (no training) to check whether a /0 payload passes the WAF AND returns the marker. Retrain only if the probe is promising.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[ID] </a:t>
            </a:r>
            <a:r>
              <a:rPr dirty="0" err="1"/>
              <a:t>Rencana</a:t>
            </a:r>
            <a:r>
              <a:rPr dirty="0"/>
              <a:t>: (1) </a:t>
            </a:r>
            <a:r>
              <a:rPr dirty="0" err="1"/>
              <a:t>jalankan</a:t>
            </a:r>
            <a:r>
              <a:rPr dirty="0"/>
              <a:t> probe /0 -&gt; </a:t>
            </a:r>
            <a:r>
              <a:rPr dirty="0" err="1"/>
              <a:t>putuskan</a:t>
            </a:r>
            <a:r>
              <a:rPr dirty="0"/>
              <a:t> retrain. (2) </a:t>
            </a:r>
            <a:r>
              <a:rPr dirty="0" err="1"/>
              <a:t>Kunci</a:t>
            </a:r>
            <a:r>
              <a:rPr dirty="0"/>
              <a:t> RQ2 (3-rezim + </a:t>
            </a:r>
            <a:r>
              <a:rPr dirty="0" err="1"/>
              <a:t>mekanisme</a:t>
            </a:r>
            <a:r>
              <a:rPr dirty="0"/>
              <a:t>). (3) </a:t>
            </a:r>
            <a:r>
              <a:rPr dirty="0" err="1"/>
              <a:t>Menulis</a:t>
            </a:r>
            <a:r>
              <a:rPr dirty="0"/>
              <a:t> paper </a:t>
            </a:r>
            <a:r>
              <a:rPr dirty="0" err="1"/>
              <a:t>publikasi</a:t>
            </a:r>
            <a:r>
              <a:rPr dirty="0"/>
              <a:t>: </a:t>
            </a:r>
            <a:r>
              <a:rPr dirty="0" err="1"/>
              <a:t>tambah</a:t>
            </a:r>
            <a:r>
              <a:rPr dirty="0"/>
              <a:t> RQ1-error + section RQ2 </a:t>
            </a:r>
            <a:r>
              <a:rPr dirty="0" err="1"/>
              <a:t>Safeline</a:t>
            </a:r>
            <a:r>
              <a:rPr dirty="0"/>
              <a:t>, </a:t>
            </a:r>
            <a:r>
              <a:rPr dirty="0" err="1"/>
              <a:t>perbarui</a:t>
            </a:r>
            <a:r>
              <a:rPr dirty="0"/>
              <a:t> abstract. (4) </a:t>
            </a:r>
            <a:r>
              <a:rPr dirty="0" err="1"/>
              <a:t>Metodologi</a:t>
            </a:r>
            <a:r>
              <a:rPr dirty="0"/>
              <a:t>: </a:t>
            </a:r>
            <a:r>
              <a:rPr dirty="0" err="1"/>
              <a:t>dokumentasi</a:t>
            </a:r>
            <a:r>
              <a:rPr dirty="0"/>
              <a:t> setup </a:t>
            </a:r>
            <a:r>
              <a:rPr dirty="0" err="1"/>
              <a:t>Safeline</a:t>
            </a:r>
            <a:r>
              <a:rPr dirty="0"/>
              <a:t> + </a:t>
            </a:r>
            <a:r>
              <a:rPr dirty="0" err="1"/>
              <a:t>metrik</a:t>
            </a:r>
            <a:r>
              <a:rPr dirty="0"/>
              <a:t> </a:t>
            </a:r>
            <a:r>
              <a:rPr dirty="0" err="1"/>
              <a:t>evasi</a:t>
            </a:r>
            <a:r>
              <a:rPr dirty="0"/>
              <a:t> + </a:t>
            </a:r>
            <a:r>
              <a:rPr dirty="0" err="1"/>
              <a:t>limitasi</a:t>
            </a:r>
            <a:r>
              <a:rPr dirty="0"/>
              <a:t>. </a:t>
            </a:r>
            <a:r>
              <a:rPr dirty="0" err="1"/>
              <a:t>Ringkasan</a:t>
            </a:r>
            <a:r>
              <a:rPr dirty="0"/>
              <a:t>: RQ1(</a:t>
            </a:r>
            <a:r>
              <a:rPr dirty="0" err="1"/>
              <a:t>union+error</a:t>
            </a:r>
            <a:r>
              <a:rPr dirty="0"/>
              <a:t>), RQ3, RQ2 transfer SELESAI —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rencana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[EN] Plan: (1) run the /0 probe -&gt; decide on retraining. (2) Lock RQ2 (three-regime + mechanism). (3) Write the publication paper: add RQ1-error + the RQ2 </a:t>
            </a:r>
            <a:r>
              <a:rPr dirty="0" err="1"/>
              <a:t>Safeline</a:t>
            </a:r>
            <a:r>
              <a:rPr dirty="0"/>
              <a:t> section; update the abstract. (4) Methods: document </a:t>
            </a:r>
            <a:r>
              <a:rPr dirty="0" err="1"/>
              <a:t>Safeline</a:t>
            </a:r>
            <a:r>
              <a:rPr dirty="0"/>
              <a:t> setup + evasion metric + limitations. Summary: RQ1(</a:t>
            </a:r>
            <a:r>
              <a:rPr dirty="0" err="1"/>
              <a:t>union+error</a:t>
            </a:r>
            <a:r>
              <a:rPr dirty="0"/>
              <a:t>), RQ3, RQ2 transfer DONE — stronger than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331720"/>
            <a:ext cx="2743200" cy="508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23272F"/>
                </a:solidFill>
              </a:defRPr>
            </a:pPr>
            <a:r>
              <a:rPr dirty="0" err="1"/>
              <a:t>SeqSQLi</a:t>
            </a:r>
            <a:endParaRPr dirty="0"/>
          </a:p>
          <a:p>
            <a:pPr>
              <a:defRPr sz="2400">
                <a:solidFill>
                  <a:srgbClr val="3A6EA5"/>
                </a:solidFill>
              </a:defRPr>
            </a:pPr>
            <a:r>
              <a:rPr dirty="0"/>
              <a:t>Reinforcement Learning for Sequential WAF Evasion</a:t>
            </a:r>
          </a:p>
          <a:p>
            <a:pPr>
              <a:defRPr sz="1600">
                <a:solidFill>
                  <a:srgbClr val="6B7280"/>
                </a:solidFill>
              </a:defRPr>
            </a:pPr>
            <a:r>
              <a:rPr dirty="0"/>
              <a:t>Lab Meeting </a:t>
            </a:r>
            <a:r>
              <a:rPr lang="en-US" dirty="0"/>
              <a:t>-</a:t>
            </a:r>
            <a:r>
              <a:rPr dirty="0"/>
              <a:t> Progress Report   ·  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Research Questions </a:t>
            </a:r>
            <a:r>
              <a:rPr lang="en-US" dirty="0"/>
              <a:t>- </a:t>
            </a:r>
            <a:r>
              <a:rPr dirty="0"/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1646"/>
              </p:ext>
            </p:extLst>
          </p:nvPr>
        </p:nvGraphicFramePr>
        <p:xfrm>
          <a:off x="548640" y="1554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RQ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RQ1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Which deep-RL algorithm is most effective &amp; efficient?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DONE (union + error)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RQ2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Does a rule-based-trained policy transfer to an ML-based WAF?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DONE </a:t>
                      </a:r>
                      <a:r>
                        <a:rPr lang="en-US" dirty="0"/>
                        <a:t>-</a:t>
                      </a:r>
                      <a:r>
                        <a:rPr dirty="0"/>
                        <a:t> key result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RQ3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Does mutation ORDER affect success?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DONE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1064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A6EA5"/>
                </a:solidFill>
              </a:defRPr>
            </a:pPr>
            <a:r>
              <a:rPr dirty="0"/>
              <a:t>this week: RQ1 error corpus (multi-seed) + RQ2 </a:t>
            </a:r>
            <a:r>
              <a:rPr dirty="0" err="1"/>
              <a:t>Safeline</a:t>
            </a:r>
            <a:r>
              <a:rPr dirty="0"/>
              <a:t> transfer.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Metric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416052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029200" cy="253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3A6EA5"/>
                </a:solidFill>
              </a:defRPr>
            </a:pPr>
            <a:r>
              <a:rPr dirty="0"/>
              <a:t>IFNR</a:t>
            </a:r>
          </a:p>
          <a:p>
            <a:pPr>
              <a:spcAft>
                <a:spcPts val="300"/>
              </a:spcAft>
              <a:defRPr sz="1300" b="0">
                <a:solidFill>
                  <a:srgbClr val="6B7280"/>
                </a:solidFill>
              </a:defRPr>
            </a:pPr>
            <a:r>
              <a:rPr dirty="0"/>
              <a:t>Induced False Negative Rate</a:t>
            </a:r>
          </a:p>
          <a:p>
            <a:pPr>
              <a:spcAft>
                <a:spcPts val="300"/>
              </a:spcAft>
              <a:defRPr sz="1300" b="1">
                <a:solidFill>
                  <a:srgbClr val="23272F"/>
                </a:solidFill>
              </a:defRPr>
            </a:pPr>
            <a:r>
              <a:rPr sz="2400" dirty="0"/>
              <a:t>How OFTEN the agent succeeds.  Higher = better.</a:t>
            </a:r>
          </a:p>
          <a:p>
            <a:pPr>
              <a:spcAft>
                <a:spcPts val="300"/>
              </a:spcAft>
              <a:defRPr sz="800" b="0">
                <a:solidFill>
                  <a:srgbClr val="23272F"/>
                </a:solidFill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23272F"/>
                </a:solidFill>
              </a:defRPr>
            </a:pPr>
            <a:r>
              <a:rPr dirty="0"/>
              <a:t>FN  = WAF fails to block (attack passes)</a:t>
            </a:r>
          </a:p>
          <a:p>
            <a:pPr>
              <a:spcAft>
                <a:spcPts val="300"/>
              </a:spcAft>
              <a:defRPr sz="1200" b="0">
                <a:solidFill>
                  <a:srgbClr val="23272F"/>
                </a:solidFill>
              </a:defRPr>
            </a:pPr>
            <a:r>
              <a:rPr dirty="0"/>
              <a:t>FNR₀ = passes WITHOUT agent = 0% here</a:t>
            </a:r>
          </a:p>
          <a:p>
            <a:pPr>
              <a:spcAft>
                <a:spcPts val="300"/>
              </a:spcAft>
              <a:defRPr sz="1200" b="0">
                <a:solidFill>
                  <a:srgbClr val="23272F"/>
                </a:solidFill>
              </a:defRPr>
            </a:pPr>
            <a:r>
              <a:rPr dirty="0"/>
              <a:t>MFNR = passes WITH the agent's mutations</a:t>
            </a:r>
          </a:p>
          <a:p>
            <a:pPr>
              <a:spcAft>
                <a:spcPts val="300"/>
              </a:spcAft>
              <a:defRPr sz="1200" b="1">
                <a:solidFill>
                  <a:srgbClr val="23272F"/>
                </a:solidFill>
              </a:defRPr>
            </a:pPr>
            <a:r>
              <a:rPr dirty="0"/>
              <a:t>IFNR = MFNR − FNR₀  (the increase the agent causes)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417320"/>
            <a:ext cx="5486400" cy="4160520"/>
          </a:xfrm>
          <a:prstGeom prst="round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2" y="1600200"/>
            <a:ext cx="5029200" cy="162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3A6EA5"/>
                </a:solidFill>
              </a:defRPr>
            </a:pPr>
            <a:r>
              <a:rPr dirty="0"/>
              <a:t>SPBARC</a:t>
            </a:r>
          </a:p>
          <a:p>
            <a:pPr>
              <a:spcAft>
                <a:spcPts val="300"/>
              </a:spcAft>
              <a:defRPr sz="1200" b="0">
                <a:solidFill>
                  <a:srgbClr val="6B7280"/>
                </a:solidFill>
              </a:defRPr>
            </a:pPr>
            <a:r>
              <a:rPr dirty="0"/>
              <a:t>Successful Payload Bypass Average Request Count</a:t>
            </a:r>
          </a:p>
          <a:p>
            <a:pPr>
              <a:spcAft>
                <a:spcPts val="300"/>
              </a:spcAft>
              <a:defRPr sz="1300" b="1">
                <a:solidFill>
                  <a:srgbClr val="23272F"/>
                </a:solidFill>
              </a:defRPr>
            </a:pPr>
            <a:r>
              <a:rPr sz="2400" dirty="0"/>
              <a:t>How EFFICIENT the agent is.  Lower = better.</a:t>
            </a:r>
          </a:p>
          <a:p>
            <a:pPr>
              <a:spcAft>
                <a:spcPts val="300"/>
              </a:spcAft>
              <a:defRPr sz="800" b="0">
                <a:solidFill>
                  <a:srgbClr val="23272F"/>
                </a:solidFill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642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7D32"/>
                </a:solidFill>
              </a:defRPr>
            </a:pPr>
            <a:r>
              <a:rPr dirty="0"/>
              <a:t>Ideal agent = high IFNR + low SPBARC.  TRPO wins both (99.1% / 6.07)</a:t>
            </a:r>
            <a:endParaRPr lang="en-US" dirty="0"/>
          </a:p>
          <a:p>
            <a:pPr>
              <a:defRPr sz="1500" b="1">
                <a:solidFill>
                  <a:srgbClr val="2E7D32"/>
                </a:solidFill>
              </a:defRPr>
            </a:pPr>
            <a:endParaRPr lang="en-US" dirty="0"/>
          </a:p>
          <a:p>
            <a:pPr>
              <a:defRPr sz="1500" b="1">
                <a:solidFill>
                  <a:srgbClr val="2E7D32"/>
                </a:solidFill>
              </a:defRPr>
            </a:pPr>
            <a:r>
              <a:rPr lang="en-US" i="1" dirty="0">
                <a:solidFill>
                  <a:schemeClr val="tx2"/>
                </a:solidFill>
              </a:rPr>
              <a:t>*Metrics adapted from </a:t>
            </a:r>
            <a:r>
              <a:rPr lang="en-US" i="1" dirty="0" err="1">
                <a:solidFill>
                  <a:schemeClr val="tx2"/>
                </a:solidFill>
              </a:rPr>
              <a:t>BWAFSQLi</a:t>
            </a:r>
            <a:r>
              <a:rPr lang="en-US" i="1" dirty="0">
                <a:solidFill>
                  <a:schemeClr val="tx2"/>
                </a:solidFill>
              </a:rPr>
              <a:t>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RQ1 </a:t>
            </a:r>
            <a:r>
              <a:rPr lang="en-US" dirty="0"/>
              <a:t>-</a:t>
            </a:r>
            <a:r>
              <a:rPr dirty="0"/>
              <a:t> Algorithm Comparison (Union corpus, </a:t>
            </a:r>
            <a:r>
              <a:rPr dirty="0" err="1"/>
              <a:t>ModSecurity</a:t>
            </a:r>
            <a:r>
              <a:rPr dirty="0"/>
              <a:t>)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rPr dirty="0"/>
              <a:t>108 validated payloads · 150k steps · identical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IFNR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SPBARC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trivial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complex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TRPO</a:t>
                      </a:r>
                    </a:p>
                  </a:txBody>
                  <a:tcPr marL="88900" marT="38100" marB="38100" anchor="ctr">
                    <a:solidFill>
                      <a:srgbClr val="E5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+99.1%</a:t>
                      </a:r>
                    </a:p>
                  </a:txBody>
                  <a:tcPr marL="88900" marT="38100" marB="38100" anchor="ctr">
                    <a:solidFill>
                      <a:srgbClr val="E5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6.07</a:t>
                      </a:r>
                    </a:p>
                  </a:txBody>
                  <a:tcPr marL="88900" marT="38100" marB="38100" anchor="ctr">
                    <a:solidFill>
                      <a:srgbClr val="E5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88900" marT="38100" marB="38100" anchor="ctr">
                    <a:solidFill>
                      <a:srgbClr val="E5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88900" marT="38100" marB="38100" anchor="ctr">
                    <a:solidFill>
                      <a:srgbClr val="E5F1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97.2%</a:t>
                      </a:r>
                    </a:p>
                  </a:txBody>
                  <a:tcPr marL="88900" marT="38100" marB="38100" anchor="ctr">
                    <a:solidFill>
                      <a:srgbClr val="E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PPO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+88.9%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6.89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A2C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+76.9%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10.08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97.2%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Random (baseline)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+3.7%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216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E7D32"/>
                </a:solidFill>
              </a:defRPr>
            </a:pPr>
            <a:r>
              <a:rPr dirty="0"/>
              <a:t>•  Ranking TRPO &gt; PPO &gt; A2C. Difference shows up in the COMPLEX tier (longest chains).</a:t>
            </a:r>
          </a:p>
          <a:p>
            <a:pPr>
              <a:spcAft>
                <a:spcPts val="700"/>
              </a:spcAft>
              <a:defRPr sz="1700" b="0">
                <a:solidFill>
                  <a:srgbClr val="6B7280"/>
                </a:solidFill>
              </a:defRPr>
            </a:pPr>
            <a:r>
              <a:rPr dirty="0"/>
              <a:t>•  Trust-region / clipped methods beat vanilla A2C under sparse, long-horizon reward.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RQ1 </a:t>
            </a:r>
            <a:r>
              <a:rPr lang="en-US" dirty="0"/>
              <a:t>-</a:t>
            </a:r>
            <a:r>
              <a:rPr dirty="0"/>
              <a:t> Error corpus (NEW, multi-seed)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rPr dirty="0"/>
              <a:t>108 error-based payloads · same pipeline · 3 random seeds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IFNR (mean ± std)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range (3 seeds)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vs union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TRPO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30.3% ± 2.3%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27.8 – 32.4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(was 99.1%)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26.3% ± 1.9%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24.1 – 27.8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(was 88.9%)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A2C</a:t>
                      </a:r>
                    </a:p>
                  </a:txBody>
                  <a:tcPr marL="88900" marT="38100" marB="38100" anchor="ctr"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22.3% ± 14.4%</a:t>
                      </a:r>
                    </a:p>
                  </a:txBody>
                  <a:tcPr marL="88900" marT="38100" marB="38100" anchor="ctr"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5.6 – 30.6</a:t>
                      </a:r>
                    </a:p>
                  </a:txBody>
                  <a:tcPr marL="88900" marT="38100" marB="38100" anchor="ctr"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(was 76.9%)</a:t>
                      </a:r>
                    </a:p>
                  </a:txBody>
                  <a:tcPr marL="88900" marT="38100" marB="38100" anchor="ctr"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B03A2E"/>
                </a:solidFill>
              </a:defRPr>
            </a:pPr>
            <a:r>
              <a:rPr dirty="0"/>
              <a:t>•  Error payloads are MUCH harder: best IFNR drops 99% → ~30%.</a:t>
            </a:r>
          </a:p>
          <a:p>
            <a:pPr>
              <a:spcAft>
                <a:spcPts val="700"/>
              </a:spcAft>
              <a:defRPr sz="1700" b="1">
                <a:solidFill>
                  <a:srgbClr val="B03A2E"/>
                </a:solidFill>
              </a:defRPr>
            </a:pPr>
            <a:r>
              <a:rPr dirty="0"/>
              <a:t>•  A2C is UNSTABLE: std ≈ 14% (~7× TRPO/PPO); swings 5.6%..30.6% by seed only.</a:t>
            </a:r>
          </a:p>
          <a:p>
            <a:pPr>
              <a:spcAft>
                <a:spcPts val="700"/>
              </a:spcAft>
              <a:defRPr sz="1700" b="0">
                <a:solidFill>
                  <a:srgbClr val="6B7280"/>
                </a:solidFill>
              </a:defRPr>
            </a:pPr>
            <a:r>
              <a:rPr dirty="0"/>
              <a:t>•  Running 3 seeds mattered: one A2C seed was 0% </a:t>
            </a:r>
            <a:r>
              <a:rPr lang="en-US" dirty="0"/>
              <a:t>-</a:t>
            </a:r>
            <a:r>
              <a:rPr dirty="0"/>
              <a:t> reporting it alone = a wrong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RQ3 </a:t>
            </a:r>
            <a:r>
              <a:rPr lang="en-US" dirty="0"/>
              <a:t>-</a:t>
            </a:r>
            <a:r>
              <a:rPr dirty="0"/>
              <a:t> Mutation Order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72F"/>
                </a:solidFill>
              </a:defRPr>
            </a:pPr>
            <a:r>
              <a:rPr dirty="0"/>
              <a:t>•  Same mutations, different ORDER → very different success.</a:t>
            </a:r>
          </a:p>
          <a:p>
            <a:pPr>
              <a:spcAft>
                <a:spcPts val="700"/>
              </a:spcAft>
              <a:defRPr sz="1900" b="1">
                <a:solidFill>
                  <a:srgbClr val="3A6EA5"/>
                </a:solidFill>
              </a:defRPr>
            </a:pPr>
            <a:r>
              <a:rPr dirty="0"/>
              <a:t>•  35 cross-algorithm consensus pairs: reversing the order sharply drops success.</a:t>
            </a:r>
          </a:p>
          <a:p>
            <a:pPr lvl="1">
              <a:spcAft>
                <a:spcPts val="700"/>
              </a:spcAft>
              <a:defRPr sz="1700" b="0">
                <a:solidFill>
                  <a:srgbClr val="6B7280"/>
                </a:solidFill>
              </a:defRPr>
            </a:pPr>
            <a:r>
              <a:rPr dirty="0"/>
              <a:t>–  Precondition example: </a:t>
            </a:r>
            <a:r>
              <a:rPr dirty="0" err="1"/>
              <a:t>ident_backtick</a:t>
            </a:r>
            <a:r>
              <a:rPr dirty="0"/>
              <a:t> → </a:t>
            </a:r>
            <a:r>
              <a:rPr dirty="0" err="1"/>
              <a:t>hex_to_char</a:t>
            </a:r>
            <a:r>
              <a:rPr dirty="0"/>
              <a:t> works;  reversed = 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RQ2 </a:t>
            </a:r>
            <a:r>
              <a:rPr lang="en-US" dirty="0"/>
              <a:t>-</a:t>
            </a:r>
            <a:r>
              <a:rPr dirty="0"/>
              <a:t> Transfer: </a:t>
            </a:r>
            <a:r>
              <a:rPr dirty="0" err="1"/>
              <a:t>ModSecurity</a:t>
            </a:r>
            <a:r>
              <a:rPr dirty="0"/>
              <a:t> (regex) → </a:t>
            </a:r>
            <a:r>
              <a:rPr dirty="0" err="1"/>
              <a:t>Safeline</a:t>
            </a:r>
            <a:r>
              <a:rPr dirty="0"/>
              <a:t> (ML)</a:t>
            </a:r>
          </a:p>
          <a:p>
            <a:pPr>
              <a:defRPr sz="1300">
                <a:solidFill>
                  <a:srgbClr val="6B7280"/>
                </a:solidFill>
              </a:defRPr>
            </a:pPr>
            <a:r>
              <a:rPr dirty="0"/>
              <a:t>Zero-shot: take </a:t>
            </a:r>
            <a:r>
              <a:rPr dirty="0" err="1"/>
              <a:t>ModSec</a:t>
            </a:r>
            <a:r>
              <a:rPr dirty="0"/>
              <a:t>-trained models, test on </a:t>
            </a:r>
            <a:r>
              <a:rPr dirty="0" err="1"/>
              <a:t>Safeline</a:t>
            </a:r>
            <a:r>
              <a:rPr dirty="0"/>
              <a:t> (no retraining)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B03A2E"/>
                </a:solidFill>
              </a:defRPr>
            </a:pPr>
            <a:r>
              <a:rPr dirty="0"/>
              <a:t>•  Transfer IFNR = 0% — ALL algorithms, BOTH corpora (12 models). Every mutated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r>
              <a:rPr dirty="0"/>
              <a:t>–  payload (~900) hit 403. The agent did not give up </a:t>
            </a:r>
            <a:r>
              <a:rPr lang="en-US" dirty="0"/>
              <a:t>-</a:t>
            </a:r>
            <a:r>
              <a:rPr dirty="0"/>
              <a:t> it genuinely cannot pass.</a:t>
            </a:r>
          </a:p>
          <a:p>
            <a:pPr>
              <a:spcAft>
                <a:spcPts val="700"/>
              </a:spcAft>
              <a:defRPr sz="1800" b="1">
                <a:solidFill>
                  <a:srgbClr val="3A6EA5"/>
                </a:solidFill>
              </a:defRPr>
            </a:pPr>
            <a:r>
              <a:rPr dirty="0"/>
              <a:t>•  Transferability gap ≈ the entire </a:t>
            </a:r>
            <a:r>
              <a:rPr dirty="0" err="1"/>
              <a:t>ModSec</a:t>
            </a:r>
            <a:r>
              <a:rPr dirty="0"/>
              <a:t> IFNR (e.g. 99.1% → 0%).</a:t>
            </a:r>
          </a:p>
          <a:p>
            <a:pPr>
              <a:spcAft>
                <a:spcPts val="700"/>
              </a:spcAft>
              <a:defRPr sz="1800" b="0">
                <a:solidFill>
                  <a:srgbClr val="23272F"/>
                </a:solidFill>
              </a:defRPr>
            </a:pPr>
            <a:r>
              <a:rPr dirty="0"/>
              <a:t>•  0% is GENUINE, </a:t>
            </a:r>
            <a:r>
              <a:rPr lang="en-US" dirty="0"/>
              <a:t>it because policy </a:t>
            </a:r>
            <a:r>
              <a:rPr lang="en-US" dirty="0" err="1"/>
              <a:t>modsec</a:t>
            </a:r>
            <a:r>
              <a:rPr lang="en-US" dirty="0"/>
              <a:t> doesn’t match </a:t>
            </a:r>
            <a:r>
              <a:rPr lang="en-US" dirty="0" err="1"/>
              <a:t>ith</a:t>
            </a:r>
            <a:r>
              <a:rPr lang="en-US" dirty="0"/>
              <a:t> WAF ML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RQ2 </a:t>
            </a:r>
            <a:r>
              <a:rPr lang="en-US" dirty="0"/>
              <a:t>-</a:t>
            </a:r>
            <a:r>
              <a:rPr dirty="0"/>
              <a:t> Training directly on </a:t>
            </a:r>
            <a:r>
              <a:rPr dirty="0" err="1"/>
              <a:t>Safeline</a:t>
            </a:r>
            <a:r>
              <a:rPr dirty="0"/>
              <a:t>: the key finding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WAF type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t>Passes WAF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Steals data (IFNR)</a:t>
                      </a:r>
                    </a:p>
                  </a:txBody>
                  <a:tcPr marL="88900" marT="38100" marB="38100" anchor="ctr">
                    <a:solidFill>
                      <a:srgbClr val="E9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ModSecurity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regex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76 – 99%</a:t>
                      </a:r>
                    </a:p>
                  </a:txBody>
                  <a:tcPr marL="88900" marT="38100" marB="38100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 err="1"/>
                        <a:t>Safeline</a:t>
                      </a:r>
                      <a:r>
                        <a:rPr dirty="0"/>
                        <a:t> — zero-shot transfer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~0% (all 403)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0%</a:t>
                      </a:r>
                    </a:p>
                  </a:txBody>
                  <a:tcPr marL="889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 err="1"/>
                        <a:t>Safeline</a:t>
                      </a:r>
                      <a:r>
                        <a:rPr dirty="0"/>
                        <a:t> — trained directly</a:t>
                      </a:r>
                    </a:p>
                  </a:txBody>
                  <a:tcPr marL="88900" marT="38100" marB="38100" anchor="ctr"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 marL="88900" marT="38100" marB="38100" anchor="ctr"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~89%</a:t>
                      </a:r>
                    </a:p>
                  </a:txBody>
                  <a:tcPr marL="88900" marT="38100" marB="38100" anchor="ctr">
                    <a:solidFill>
                      <a:srgbClr val="FBF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3272F"/>
                          </a:solidFill>
                        </a:defRPr>
                      </a:pPr>
                      <a:r>
                        <a:rPr dirty="0"/>
                        <a:t>0%</a:t>
                      </a:r>
                    </a:p>
                  </a:txBody>
                  <a:tcPr marL="88900" marT="38100" marB="38100" anchor="ctr">
                    <a:solidFill>
                      <a:srgbClr val="FB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7639"/>
            <a:ext cx="1106424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A6EA5"/>
                </a:solidFill>
              </a:defRPr>
            </a:pPr>
            <a:r>
              <a:rPr dirty="0"/>
              <a:t>•  On </a:t>
            </a:r>
            <a:r>
              <a:rPr lang="en-US" dirty="0"/>
              <a:t>rule based</a:t>
            </a:r>
            <a:r>
              <a:rPr dirty="0"/>
              <a:t>-WAF: passing &amp; stealing data go TOGETHER. On ML-WAF: they SPLIT.</a:t>
            </a:r>
          </a:p>
          <a:p>
            <a:pPr>
              <a:spcAft>
                <a:spcPts val="700"/>
              </a:spcAft>
              <a:defRPr sz="1700" b="0">
                <a:solidFill>
                  <a:srgbClr val="23272F"/>
                </a:solidFill>
              </a:defRPr>
            </a:pPr>
            <a:r>
              <a:rPr dirty="0"/>
              <a:t>•  Trained directly, the agent passes </a:t>
            </a:r>
            <a:r>
              <a:rPr dirty="0" err="1"/>
              <a:t>Safeline</a:t>
            </a:r>
            <a:r>
              <a:rPr dirty="0"/>
              <a:t> ~89% </a:t>
            </a:r>
            <a:r>
              <a:rPr lang="en-US" dirty="0"/>
              <a:t>-</a:t>
            </a:r>
            <a:r>
              <a:rPr dirty="0"/>
              <a:t> but steals data 0%.</a:t>
            </a:r>
          </a:p>
          <a:p>
            <a:pPr>
              <a:spcAft>
                <a:spcPts val="700"/>
              </a:spcAft>
              <a:defRPr sz="1700" b="1">
                <a:solidFill>
                  <a:srgbClr val="B03A2E"/>
                </a:solidFill>
              </a:defRPr>
            </a:pPr>
            <a:r>
              <a:rPr dirty="0"/>
              <a:t>•  846 / 972 requests = HTTP 200 but SQL_ERROR → it passed only by breaking the 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RQ2 </a:t>
            </a:r>
            <a:r>
              <a:rPr lang="en-US" dirty="0"/>
              <a:t>-</a:t>
            </a:r>
            <a:r>
              <a:rPr dirty="0"/>
              <a:t> Why it ‘</a:t>
            </a:r>
            <a:r>
              <a:rPr lang="en-US" dirty="0"/>
              <a:t>by</a:t>
            </a:r>
            <a:r>
              <a:rPr dirty="0"/>
              <a:t>passes the WAF but steals nothing'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73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272F"/>
                </a:solidFill>
              </a:defRPr>
            </a:pPr>
            <a:r>
              <a:rPr dirty="0"/>
              <a:t>•  The ML detector judges meaning, not surface patterns.</a:t>
            </a:r>
          </a:p>
          <a:p>
            <a:pPr>
              <a:spcAft>
                <a:spcPts val="700"/>
              </a:spcAft>
              <a:defRPr sz="1800" b="1">
                <a:solidFill>
                  <a:srgbClr val="3A6EA5"/>
                </a:solidFill>
              </a:defRPr>
            </a:pPr>
            <a:r>
              <a:rPr dirty="0"/>
              <a:t>•  Result: neither </a:t>
            </a:r>
            <a:r>
              <a:rPr dirty="0" err="1"/>
              <a:t>Safeline</a:t>
            </a:r>
            <a:r>
              <a:rPr dirty="0"/>
              <a:t> NOR MySQL sees valid SQL → passes (200) but errors (no 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In Progress </a:t>
            </a:r>
            <a:r>
              <a:rPr lang="en-US" dirty="0"/>
              <a:t>-</a:t>
            </a:r>
            <a:r>
              <a:rPr dirty="0"/>
              <a:t> testing a semantics-preserving 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A6EA5"/>
                </a:solidFill>
              </a:defRPr>
            </a:pPr>
            <a:r>
              <a:rPr dirty="0"/>
              <a:t>•  Question: can the agent evade </a:t>
            </a:r>
            <a:r>
              <a:rPr dirty="0" err="1"/>
              <a:t>Safeline</a:t>
            </a:r>
            <a:r>
              <a:rPr dirty="0"/>
              <a:t> WITHOUT breaking the SQL?</a:t>
            </a:r>
          </a:p>
          <a:p>
            <a:pPr>
              <a:spcAft>
                <a:spcPts val="700"/>
              </a:spcAft>
              <a:defRPr sz="1800" b="0">
                <a:solidFill>
                  <a:srgbClr val="23272F"/>
                </a:solidFill>
              </a:defRPr>
            </a:pPr>
            <a:r>
              <a:rPr dirty="0"/>
              <a:t>•  Added </a:t>
            </a:r>
            <a:r>
              <a:rPr dirty="0" err="1"/>
              <a:t>div_break</a:t>
            </a:r>
            <a:r>
              <a:rPr dirty="0"/>
              <a:t> (a /0 context-breaker) from a manual bypass PoC: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r>
              <a:rPr dirty="0"/>
              <a:t>–  -1' UNION SELECT database(),...  →  -1'/0 UNION SELECT database(),...   (extraction intact)</a:t>
            </a:r>
          </a:p>
          <a:p>
            <a:pPr>
              <a:spcAft>
                <a:spcPts val="700"/>
              </a:spcAft>
              <a:defRPr sz="1800" b="0">
                <a:solidFill>
                  <a:srgbClr val="23272F"/>
                </a:solidFill>
              </a:defRPr>
            </a:pPr>
            <a:r>
              <a:rPr dirty="0"/>
              <a:t>•  Cheap PROBE first (no training): does a /0 payload BOTH pass </a:t>
            </a:r>
            <a:r>
              <a:rPr dirty="0" err="1"/>
              <a:t>Safeline</a:t>
            </a:r>
            <a:r>
              <a:rPr dirty="0"/>
              <a:t> AND return the marker?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r>
              <a:rPr dirty="0"/>
              <a:t>–  Retrain the agents only if the probe shows a reachable success.</a:t>
            </a:r>
            <a:endParaRPr lang="en-US" dirty="0"/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endParaRPr lang="en-US" dirty="0"/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endParaRPr lang="en-US" dirty="0"/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r>
              <a:rPr lang="en-US" dirty="0"/>
              <a:t>Our research limitations (future research?):</a:t>
            </a:r>
          </a:p>
          <a:p>
            <a:pPr lvl="1">
              <a:spcAft>
                <a:spcPts val="700"/>
              </a:spcAft>
              <a:defRPr sz="1600" b="0">
                <a:solidFill>
                  <a:srgbClr val="6B7280"/>
                </a:solidFill>
              </a:defRPr>
            </a:pPr>
            <a:r>
              <a:rPr lang="en-US" dirty="0"/>
              <a:t>In our agent, we don’t implement SQL parser yet, so agent can’t check whether bypass query is a valid </a:t>
            </a:r>
            <a:r>
              <a:rPr lang="en-US" dirty="0" err="1"/>
              <a:t>sql</a:t>
            </a:r>
            <a:r>
              <a:rPr lang="en-US" dirty="0"/>
              <a:t> query or not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1752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rPr dirty="0"/>
              <a:t>Next</a:t>
            </a:r>
            <a:r>
              <a:rPr lang="en-US" dirty="0"/>
              <a:t> Week Agenda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828800" cy="381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3272F"/>
                </a:solidFill>
              </a:defRPr>
            </a:pPr>
            <a:r>
              <a:rPr dirty="0"/>
              <a:t>•  1.  Run the /0 probe on </a:t>
            </a:r>
            <a:r>
              <a:rPr dirty="0" err="1"/>
              <a:t>Safeline</a:t>
            </a:r>
            <a:r>
              <a:rPr dirty="0"/>
              <a:t> → decide whether retraining is worthwhile.</a:t>
            </a:r>
          </a:p>
          <a:p>
            <a:pPr>
              <a:spcAft>
                <a:spcPts val="700"/>
              </a:spcAft>
              <a:defRPr sz="1900" b="0">
                <a:solidFill>
                  <a:srgbClr val="23272F"/>
                </a:solidFill>
              </a:defRPr>
            </a:pPr>
            <a:r>
              <a:rPr dirty="0"/>
              <a:t>•  2.  Lock RQ2: three-regime result + the evade-vs-steal mechanism.</a:t>
            </a:r>
          </a:p>
          <a:p>
            <a:pPr>
              <a:spcAft>
                <a:spcPts val="700"/>
              </a:spcAft>
              <a:defRPr sz="1900" b="1">
                <a:solidFill>
                  <a:srgbClr val="3A6EA5"/>
                </a:solidFill>
              </a:defRPr>
            </a:pPr>
            <a:r>
              <a:rPr dirty="0"/>
              <a:t>•  3.  Writing.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2325</Words>
  <Application>Microsoft Office PowerPoint</Application>
  <PresentationFormat>와이드스크린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Roby Firnando Yusuf</cp:lastModifiedBy>
  <cp:revision>43</cp:revision>
  <dcterms:created xsi:type="dcterms:W3CDTF">2013-01-27T09:14:16Z</dcterms:created>
  <dcterms:modified xsi:type="dcterms:W3CDTF">2026-06-19T05:56:11Z</dcterms:modified>
  <cp:category/>
</cp:coreProperties>
</file>