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5" r:id="rId6"/>
    <p:sldId id="267" r:id="rId7"/>
    <p:sldId id="268" r:id="rId8"/>
    <p:sldId id="266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y Firnando Yusuf" initials="RF" lastIdx="1" clrIdx="0">
    <p:extLst>
      <p:ext uri="{19B8F6BF-5375-455C-9EA6-DF929625EA0E}">
        <p15:presenceInfo xmlns:p15="http://schemas.microsoft.com/office/powerpoint/2012/main" userId="b064eb78f104457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77240"/>
            <a:ext cx="10332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/>
              <a:t>SeqSQLi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/>
              <a:t>Sequential SQL Injection WAF Bypass via Deep Reinforcement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576072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/>
              <a:t>PROGRESS REPORT  </a:t>
            </a:r>
            <a:r>
              <a:rPr lang="en-US" sz="2200" b="1" i="0" dirty="0"/>
              <a:t>-</a:t>
            </a:r>
            <a:r>
              <a:rPr sz="2200" b="1" i="0" dirty="0"/>
              <a:t>  Lab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RQ1 — Algorithm Comparison Results 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DCE8F5"/>
                </a:solidFill>
              </a:rPr>
              <a:t>Union corpus: 108 payloads × 3 complexity tiers  |  150k timesteps  |  </a:t>
            </a:r>
            <a:r>
              <a:rPr sz="1500" b="0" i="0" dirty="0" err="1">
                <a:solidFill>
                  <a:srgbClr val="DCE8F5"/>
                </a:solidFill>
              </a:rPr>
              <a:t>ModSecurity</a:t>
            </a:r>
            <a:r>
              <a:rPr sz="1500" b="0" i="0" dirty="0">
                <a:solidFill>
                  <a:srgbClr val="DCE8F5"/>
                </a:solidFill>
              </a:rPr>
              <a:t> CRS v3.3.2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210312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0817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53312"/>
            <a:ext cx="169164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6040" y="140817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IFNR ↑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53312"/>
            <a:ext cx="178308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408176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SPBARC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53312"/>
            <a:ext cx="141732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408176"/>
            <a:ext cx="1325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Trivial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353312"/>
            <a:ext cx="141732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0" y="1408176"/>
            <a:ext cx="1325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353312"/>
            <a:ext cx="155448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140817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Complex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83664"/>
            <a:ext cx="2103120" cy="713232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95681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66AC"/>
                </a:solidFill>
              </a:rPr>
              <a:t>TRPO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883664"/>
            <a:ext cx="1691640" cy="713232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6040" y="1956816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99.1%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883664"/>
            <a:ext cx="1783080" cy="713232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1956816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6.07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883664"/>
            <a:ext cx="1417320" cy="713232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195681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1883664"/>
            <a:ext cx="1417320" cy="713232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0" y="195681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1883664"/>
            <a:ext cx="1554480" cy="713232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5400" y="1956816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66AC"/>
                </a:solidFill>
              </a:rPr>
              <a:t>97.2%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33472"/>
            <a:ext cx="2103120" cy="713232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270662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8D00"/>
                </a:solidFill>
              </a:rPr>
              <a:t>PPO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633472"/>
            <a:ext cx="1691640" cy="713232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06040" y="2706624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88.9%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633472"/>
            <a:ext cx="1783080" cy="713232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0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6.89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633472"/>
            <a:ext cx="1417320" cy="713232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60" y="270662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2633472"/>
            <a:ext cx="1417320" cy="713232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0" y="270662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2633472"/>
            <a:ext cx="1554480" cy="713232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15400" y="2706624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8D00"/>
                </a:solidFill>
              </a:rPr>
              <a:t>66.7%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83279"/>
            <a:ext cx="2103120" cy="713232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45643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604D"/>
                </a:solidFill>
              </a:rPr>
              <a:t>A2C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3383279"/>
            <a:ext cx="1691640" cy="713232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06040" y="345643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76.9%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383279"/>
            <a:ext cx="1783080" cy="713232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0" y="3456432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10.08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383279"/>
            <a:ext cx="1417320" cy="713232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80760" y="345643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3383279"/>
            <a:ext cx="1417320" cy="713232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345643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97.2%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3383279"/>
            <a:ext cx="1554480" cy="713232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15400" y="3456432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604D"/>
                </a:solidFill>
              </a:rPr>
              <a:t>33.3%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IFNR = Improved False Negative Rate  (% of initially blocked payloads bypassed)
SPBARC = Successful Payload Bypass Avg Request Count  (lower = more efficient)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212080"/>
            <a:ext cx="11521440" cy="1298448"/>
          </a:xfrm>
          <a:prstGeom prst="rect">
            <a:avLst/>
          </a:prstGeom>
          <a:solidFill>
            <a:srgbClr val="DCE8F5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920" y="526694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Key Finding: Complex tier is the discriminator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5705856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</a:rPr>
              <a:t>All 3 algorithms reach ~100% on Trivial &amp; Medium. Performance diverges sharply on Complex (97.2% vs 66.7% vs 33.3%).
Complex payloads require longer, order-constrained mutation chains — where TRPO's hard KL-bound constraint provides the critical stability advantage.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RQ1 — Per-Tier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DCE8F5"/>
                </a:solidFill>
              </a:rPr>
              <a:t>Why trivial and medium are saturated; complex is the real challenge</a:t>
            </a:r>
          </a:p>
        </p:txBody>
      </p:sp>
      <p:pic>
        <p:nvPicPr>
          <p:cNvPr id="5" name="Picture 4" descr="fig_tier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7498079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371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Tier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874519"/>
            <a:ext cx="393192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93852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Trivial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5915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</a:rPr>
              <a:t>Case + whitespace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246120"/>
            <a:ext cx="393192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331012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3075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</a:rPr>
              <a:t>+ Aggregate </a:t>
            </a:r>
            <a:r>
              <a:rPr sz="1300" b="0" i="0" dirty="0" err="1">
                <a:solidFill>
                  <a:srgbClr val="1A1A1A"/>
                </a:solidFill>
              </a:rPr>
              <a:t>fn</a:t>
            </a:r>
            <a:r>
              <a:rPr sz="1300" b="0" i="0" dirty="0">
                <a:solidFill>
                  <a:srgbClr val="1A1A1A"/>
                </a:solidFill>
              </a:rPr>
              <a:t> rule
(GROUP_CONCAT blocked)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4617720"/>
            <a:ext cx="393192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468172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Complex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10235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+ Hex encoding + FROM users
→ 3 rule families simultaneously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60807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2E8B57"/>
                </a:solidFill>
              </a:rPr>
              <a:t>agg_swap mutation (GROUP_CONCAT→JSON_ARRAYAGG)
unlocked medium tier — was 0% before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RQ3 — Does Mutation Order Matter? 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DCE8F5"/>
                </a:solidFill>
              </a:rPr>
              <a:t>Answer: Yes — ordering encodes structural signal from WAF rule topology</a:t>
            </a:r>
          </a:p>
        </p:txBody>
      </p:sp>
      <p:pic>
        <p:nvPicPr>
          <p:cNvPr id="5" name="Picture 4" descr="fig_ordering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768096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41732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920240"/>
            <a:ext cx="3749039" cy="1078992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98424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35 consensus pairs
(≥2 algorithms agree)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3090672"/>
            <a:ext cx="3749039" cy="1078992"/>
          </a:xfrm>
          <a:prstGeom prst="rect">
            <a:avLst/>
          </a:prstGeom>
          <a:solidFill>
            <a:srgbClr val="F7F9FC"/>
          </a:solidFill>
          <a:ln w="1524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315468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Strongest:
ident_backtick→hex_to_char
Forward: 98%  |  Reversed: 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4261104"/>
            <a:ext cx="3749039" cy="1078992"/>
          </a:xfrm>
          <a:prstGeom prst="rect">
            <a:avLst/>
          </a:prstGeom>
          <a:solidFill>
            <a:srgbClr val="F7F9FC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432511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Pattern consistent
across PPO, TRPO, A2C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5431536"/>
            <a:ext cx="3749039" cy="1078992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5495544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Conclusion: causal from
WAF rule structure,
not learning artifact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FBAD38-02F7-BD5F-3A0B-D02DDCC2D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99" y="1653735"/>
            <a:ext cx="8001081" cy="28529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31F33A-88C1-1694-EE0B-60F93B149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99" y="4894506"/>
            <a:ext cx="8863735" cy="99174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D1EC661-B289-DC44-761B-E59B80799B52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8BBCF-56A1-A778-DEFF-2E7C07FCA2A5}"/>
              </a:ext>
            </a:extLst>
          </p:cNvPr>
          <p:cNvSpPr txBox="1"/>
          <p:nvPr/>
        </p:nvSpPr>
        <p:spPr>
          <a:xfrm>
            <a:off x="411480" y="91440"/>
            <a:ext cx="113385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 err="1">
                <a:solidFill>
                  <a:srgbClr val="FFFFFF"/>
                </a:solidFill>
              </a:rPr>
              <a:t>Safeline</a:t>
            </a:r>
            <a:r>
              <a:rPr lang="en-US" sz="3000" b="1" i="0" dirty="0">
                <a:solidFill>
                  <a:srgbClr val="FFFFFF"/>
                </a:solidFill>
              </a:rPr>
              <a:t> WAF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B92BC-6720-7416-9DCB-F297B9072AD4}"/>
              </a:ext>
            </a:extLst>
          </p:cNvPr>
          <p:cNvSpPr txBox="1"/>
          <p:nvPr/>
        </p:nvSpPr>
        <p:spPr>
          <a:xfrm>
            <a:off x="411480" y="731520"/>
            <a:ext cx="113385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dirty="0" err="1">
                <a:solidFill>
                  <a:srgbClr val="DCE8F5"/>
                </a:solidFill>
              </a:rPr>
              <a:t>Safeline</a:t>
            </a:r>
            <a:r>
              <a:rPr lang="en-US" sz="1500" dirty="0">
                <a:solidFill>
                  <a:srgbClr val="DCE8F5"/>
                </a:solidFill>
              </a:rPr>
              <a:t> WAF is using semantic analysis and machine learning detection</a:t>
            </a:r>
            <a:endParaRPr sz="1500" b="0" i="0" dirty="0">
              <a:solidFill>
                <a:srgbClr val="DCE8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CD6E-BB30-EE50-86A2-9F451834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DD2AC81-3F52-D935-DCA8-F2BF3A3CF30C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0F043-DA91-D784-393B-214B8FA99BE1}"/>
              </a:ext>
            </a:extLst>
          </p:cNvPr>
          <p:cNvSpPr txBox="1"/>
          <p:nvPr/>
        </p:nvSpPr>
        <p:spPr>
          <a:xfrm>
            <a:off x="411480" y="91440"/>
            <a:ext cx="113385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 err="1">
                <a:solidFill>
                  <a:srgbClr val="FFFFFF"/>
                </a:solidFill>
              </a:rPr>
              <a:t>Safeline</a:t>
            </a:r>
            <a:r>
              <a:rPr lang="en-US" sz="3000" b="1" i="0" dirty="0">
                <a:solidFill>
                  <a:srgbClr val="FFFFFF"/>
                </a:solidFill>
              </a:rPr>
              <a:t> WAF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26BEB7C-388F-AF0A-B0CF-A24C6A4C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4" y="1274802"/>
            <a:ext cx="3635031" cy="20306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DED526-0A1D-54FD-E1B6-5BE5F9875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4" y="3429000"/>
            <a:ext cx="3591317" cy="22295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93DF9A-9A92-F543-F053-987BF0173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418" y="1274802"/>
            <a:ext cx="3656404" cy="19210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153255-BAA0-9DBE-AFBA-06180CE3AA03}"/>
              </a:ext>
            </a:extLst>
          </p:cNvPr>
          <p:cNvSpPr txBox="1"/>
          <p:nvPr/>
        </p:nvSpPr>
        <p:spPr>
          <a:xfrm>
            <a:off x="3765291" y="2116406"/>
            <a:ext cx="22721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555555"/>
                </a:solidFill>
              </a:rPr>
              <a:t>Normal query: blocked</a:t>
            </a:r>
            <a:endParaRPr sz="1100" b="0" i="1" dirty="0">
              <a:solidFill>
                <a:srgbClr val="55555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E0C32-FC64-2F3A-9026-E3BE0C8F8AA5}"/>
              </a:ext>
            </a:extLst>
          </p:cNvPr>
          <p:cNvSpPr txBox="1"/>
          <p:nvPr/>
        </p:nvSpPr>
        <p:spPr>
          <a:xfrm>
            <a:off x="3879302" y="4479985"/>
            <a:ext cx="22721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555555"/>
                </a:solidFill>
              </a:rPr>
              <a:t>No whitespace bypass query: blocked</a:t>
            </a:r>
            <a:endParaRPr sz="1100" b="0" i="1" dirty="0">
              <a:solidFill>
                <a:srgbClr val="555555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8113A8-A789-726E-FA78-1191229B5A8A}"/>
              </a:ext>
            </a:extLst>
          </p:cNvPr>
          <p:cNvSpPr txBox="1"/>
          <p:nvPr/>
        </p:nvSpPr>
        <p:spPr>
          <a:xfrm>
            <a:off x="9878119" y="1895293"/>
            <a:ext cx="22721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555555"/>
                </a:solidFill>
              </a:rPr>
              <a:t>Case sensitive + partials encode query: blocked</a:t>
            </a:r>
            <a:endParaRPr sz="1100" b="0" i="1" dirty="0">
              <a:solidFill>
                <a:srgbClr val="55555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59D17-1C50-1001-B0DC-DDAC5BD70BB8}"/>
              </a:ext>
            </a:extLst>
          </p:cNvPr>
          <p:cNvSpPr txBox="1"/>
          <p:nvPr/>
        </p:nvSpPr>
        <p:spPr>
          <a:xfrm>
            <a:off x="411480" y="731520"/>
            <a:ext cx="113385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dirty="0">
                <a:solidFill>
                  <a:srgbClr val="DCE8F5"/>
                </a:solidFill>
              </a:rPr>
              <a:t>Bypass attempts</a:t>
            </a:r>
            <a:endParaRPr sz="1500" b="0" i="0" dirty="0">
              <a:solidFill>
                <a:srgbClr val="DCE8F5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8D56E9F-1C06-C952-26B6-F9428E068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2" y="3513663"/>
            <a:ext cx="3860147" cy="20363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A8E282A-B37D-ACB3-EA95-250364D47586}"/>
              </a:ext>
            </a:extLst>
          </p:cNvPr>
          <p:cNvSpPr txBox="1"/>
          <p:nvPr/>
        </p:nvSpPr>
        <p:spPr>
          <a:xfrm>
            <a:off x="10011564" y="4112876"/>
            <a:ext cx="22721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555555"/>
                </a:solidFill>
              </a:rPr>
              <a:t>Scientific notation union bypass query: blocked</a:t>
            </a:r>
            <a:endParaRPr sz="1100" b="0" i="1" dirty="0">
              <a:solidFill>
                <a:srgbClr val="555555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1782F52-C647-D8F0-8E37-94B8C1131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620" y="5669281"/>
            <a:ext cx="3293004" cy="103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7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FC1699F1-E118-7CBF-B925-B5DCA61F4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2" y="1541732"/>
            <a:ext cx="4145046" cy="37669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03AF4D-6C18-BF89-3EB8-360707A25A07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BFB38-E858-90DE-2777-49FA31EDD037}"/>
              </a:ext>
            </a:extLst>
          </p:cNvPr>
          <p:cNvSpPr txBox="1"/>
          <p:nvPr/>
        </p:nvSpPr>
        <p:spPr>
          <a:xfrm>
            <a:off x="209600" y="317361"/>
            <a:ext cx="113385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Bypass 1: doesn’t implement HTTP content–encoding protection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C8970-4DE5-6B73-A85B-83AB6A308D12}"/>
              </a:ext>
            </a:extLst>
          </p:cNvPr>
          <p:cNvSpPr txBox="1"/>
          <p:nvPr/>
        </p:nvSpPr>
        <p:spPr>
          <a:xfrm>
            <a:off x="645720" y="5687681"/>
            <a:ext cx="7625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https://github.com/chaitin/SafeLine/issues/1222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4C9BB-47E0-B09B-A6C5-72DA58DE5507}"/>
              </a:ext>
            </a:extLst>
          </p:cNvPr>
          <p:cNvSpPr txBox="1"/>
          <p:nvPr/>
        </p:nvSpPr>
        <p:spPr>
          <a:xfrm>
            <a:off x="209600" y="845374"/>
            <a:ext cx="613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Safeline</a:t>
            </a:r>
            <a:r>
              <a:rPr lang="en-US" dirty="0">
                <a:solidFill>
                  <a:schemeClr val="bg1"/>
                </a:solidFill>
              </a:rPr>
              <a:t> WAF</a:t>
            </a:r>
          </a:p>
        </p:txBody>
      </p:sp>
    </p:spTree>
    <p:extLst>
      <p:ext uri="{BB962C8B-B14F-4D97-AF65-F5344CB8AC3E}">
        <p14:creationId xmlns:p14="http://schemas.microsoft.com/office/powerpoint/2010/main" val="840348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D75AA-AF73-897D-F0C4-DA7B7A6D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59559B1-DE01-F579-7D39-128A9B19FE67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D93EE-5DFA-071C-A592-8E35B7417434}"/>
              </a:ext>
            </a:extLst>
          </p:cNvPr>
          <p:cNvSpPr txBox="1"/>
          <p:nvPr/>
        </p:nvSpPr>
        <p:spPr>
          <a:xfrm>
            <a:off x="209600" y="317361"/>
            <a:ext cx="113385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</a:rPr>
              <a:t>Bypass 2: We found N</a:t>
            </a:r>
            <a:r>
              <a:rPr lang="en-US" sz="3000" b="1" i="0" dirty="0">
                <a:solidFill>
                  <a:srgbClr val="FFFFFF"/>
                </a:solidFill>
              </a:rPr>
              <a:t>ovel bypass query on </a:t>
            </a:r>
            <a:r>
              <a:rPr lang="en-US" sz="3000" b="1" dirty="0" err="1">
                <a:solidFill>
                  <a:srgbClr val="FFFFFF"/>
                </a:solidFill>
              </a:rPr>
              <a:t>S</a:t>
            </a:r>
            <a:r>
              <a:rPr lang="en-US" sz="3000" b="1" i="0" dirty="0" err="1">
                <a:solidFill>
                  <a:srgbClr val="FFFFFF"/>
                </a:solidFill>
              </a:rPr>
              <a:t>afeline</a:t>
            </a:r>
            <a:r>
              <a:rPr lang="en-US" sz="3000" b="1" i="0" dirty="0">
                <a:solidFill>
                  <a:srgbClr val="FFFFFF"/>
                </a:solidFill>
              </a:rPr>
              <a:t> WAF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84BB57-0B83-7AFA-7ADD-022BE87D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81" y="2401166"/>
            <a:ext cx="3604661" cy="29054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D1FED2-4451-5BD5-FCA1-B873B9017E64}"/>
              </a:ext>
            </a:extLst>
          </p:cNvPr>
          <p:cNvSpPr txBox="1"/>
          <p:nvPr/>
        </p:nvSpPr>
        <p:spPr>
          <a:xfrm>
            <a:off x="209600" y="1378129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</a:pPr>
            <a:r>
              <a:rPr lang="en-US" sz="1100" b="0" i="1" dirty="0">
                <a:solidFill>
                  <a:srgbClr val="555555"/>
                </a:solidFill>
              </a:rPr>
              <a:t>Using division approach to print vulnerable column</a:t>
            </a:r>
          </a:p>
          <a:p>
            <a:pPr marL="228600" indent="-228600">
              <a:buAutoNum type="arabicPeriod"/>
            </a:pPr>
            <a:r>
              <a:rPr lang="en-US" sz="1100" i="1" dirty="0">
                <a:solidFill>
                  <a:srgbClr val="555555"/>
                </a:solidFill>
              </a:rPr>
              <a:t>Confusing </a:t>
            </a:r>
            <a:r>
              <a:rPr lang="en-US" sz="1100" i="1" dirty="0" err="1">
                <a:solidFill>
                  <a:srgbClr val="555555"/>
                </a:solidFill>
              </a:rPr>
              <a:t>safeline</a:t>
            </a:r>
            <a:r>
              <a:rPr lang="en-US" sz="1100" i="1" dirty="0">
                <a:solidFill>
                  <a:srgbClr val="555555"/>
                </a:solidFill>
              </a:rPr>
              <a:t> WAF parser with malicious comment </a:t>
            </a:r>
            <a:r>
              <a:rPr lang="en-US" sz="1100" i="1" dirty="0" err="1">
                <a:solidFill>
                  <a:srgbClr val="555555"/>
                </a:solidFill>
              </a:rPr>
              <a:t>sql</a:t>
            </a:r>
            <a:r>
              <a:rPr lang="en-US" sz="1100" i="1" dirty="0">
                <a:solidFill>
                  <a:srgbClr val="555555"/>
                </a:solidFill>
              </a:rPr>
              <a:t>  -&gt; false negative</a:t>
            </a:r>
            <a:endParaRPr sz="1100" b="0" i="1" dirty="0">
              <a:solidFill>
                <a:srgbClr val="555555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05348E8-C135-5620-9CA5-FB547702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81" y="5396813"/>
            <a:ext cx="2397034" cy="14325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651100-354A-B22E-C41D-8B4A6101B09F}"/>
              </a:ext>
            </a:extLst>
          </p:cNvPr>
          <p:cNvSpPr txBox="1"/>
          <p:nvPr/>
        </p:nvSpPr>
        <p:spPr>
          <a:xfrm>
            <a:off x="2815640" y="6029551"/>
            <a:ext cx="36046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555555"/>
                </a:solidFill>
              </a:rPr>
              <a:t>String divided by 0 = NULL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E53378C-D8AE-42D1-7FD9-E25F2CD7D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065" y="2641511"/>
            <a:ext cx="4270454" cy="19245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B2C783-1471-537D-331E-000ABAEA713D}"/>
              </a:ext>
            </a:extLst>
          </p:cNvPr>
          <p:cNvSpPr txBox="1"/>
          <p:nvPr/>
        </p:nvSpPr>
        <p:spPr>
          <a:xfrm>
            <a:off x="148442" y="1941616"/>
            <a:ext cx="3996046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4C28D0-3487-EEE2-6BD1-971FBE020CA3}"/>
              </a:ext>
            </a:extLst>
          </p:cNvPr>
          <p:cNvSpPr txBox="1"/>
          <p:nvPr/>
        </p:nvSpPr>
        <p:spPr>
          <a:xfrm>
            <a:off x="6947065" y="1983180"/>
            <a:ext cx="473825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5E16A7-1E22-690A-A900-08ACF4D9E139}"/>
              </a:ext>
            </a:extLst>
          </p:cNvPr>
          <p:cNvSpPr txBox="1"/>
          <p:nvPr/>
        </p:nvSpPr>
        <p:spPr>
          <a:xfrm>
            <a:off x="6947065" y="5351857"/>
            <a:ext cx="3996046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limitation: can’t print any database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529E9-C8B0-00A1-631F-1E84A28350C1}"/>
              </a:ext>
            </a:extLst>
          </p:cNvPr>
          <p:cNvSpPr txBox="1"/>
          <p:nvPr/>
        </p:nvSpPr>
        <p:spPr>
          <a:xfrm>
            <a:off x="209600" y="845374"/>
            <a:ext cx="613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Safeline</a:t>
            </a:r>
            <a:r>
              <a:rPr lang="en-US" dirty="0">
                <a:solidFill>
                  <a:schemeClr val="bg1"/>
                </a:solidFill>
              </a:rPr>
              <a:t> WAF</a:t>
            </a:r>
          </a:p>
        </p:txBody>
      </p:sp>
    </p:spTree>
    <p:extLst>
      <p:ext uri="{BB962C8B-B14F-4D97-AF65-F5344CB8AC3E}">
        <p14:creationId xmlns:p14="http://schemas.microsoft.com/office/powerpoint/2010/main" val="357531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Next Steps — RQ2: Transfer to Safeline 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Zero-shot policy transfer: ModSecurity (rule-based) → Safeline CE (ML-based WAF)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5120640" cy="5212080"/>
          </a:xfrm>
          <a:prstGeom prst="rect">
            <a:avLst/>
          </a:prstGeom>
          <a:solidFill>
            <a:srgbClr val="EDF7ED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57"/>
                </a:solidFill>
              </a:rPr>
              <a:t>Safeline CE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1A"/>
                </a:solidFill>
              </a:rPr>
              <a:t>✅  Docker container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9689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  Port 8888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55264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  Verified: normal=200, SQLi=403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  Eval commands prepared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08D00"/>
                </a:solidFill>
              </a:rPr>
              <a:t>⬜  Run FNR₀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3036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08D00"/>
                </a:solidFill>
              </a:rPr>
              <a:t>⬜  Run TRPO/PPO/A2C zero-shot 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8873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08D00"/>
                </a:solidFill>
              </a:rPr>
              <a:t>⬜  Compute transferability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298448"/>
            <a:ext cx="6172200" cy="5212080"/>
          </a:xfrm>
          <a:prstGeom prst="rect">
            <a:avLst/>
          </a:prstGeom>
          <a:solidFill>
            <a:srgbClr val="F7F9FC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0" y="138988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Research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385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Target WAF: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38528"/>
            <a:ext cx="4069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Safeline CE (Chaitin Tech)
Neural-network based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8529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Method: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52928"/>
            <a:ext cx="4069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</a:rPr>
              <a:t>Zero-shot transfer — same trained
model, new WAF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767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Corpus: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767328"/>
            <a:ext cx="4069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</a:rPr>
              <a:t>108 union payloads (same as RQ1)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6817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Metrics: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681728"/>
            <a:ext cx="4069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</a:rPr>
              <a:t>IFNR + SPBARC at </a:t>
            </a:r>
            <a:r>
              <a:rPr sz="1300" b="0" i="0" dirty="0" err="1">
                <a:solidFill>
                  <a:srgbClr val="1A1A1A"/>
                </a:solidFill>
              </a:rPr>
              <a:t>Safeline</a:t>
            </a:r>
            <a:endParaRPr sz="1300" b="0" i="0" dirty="0">
              <a:solidFill>
                <a:srgbClr val="1A1A1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52160" y="55961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Key metric: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596128"/>
            <a:ext cx="4069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</a:rPr>
              <a:t>Transferability gap
= IFNR(</a:t>
            </a:r>
            <a:r>
              <a:rPr sz="1300" b="0" i="0" dirty="0" err="1">
                <a:solidFill>
                  <a:srgbClr val="1A1A1A"/>
                </a:solidFill>
              </a:rPr>
              <a:t>ModSec</a:t>
            </a:r>
            <a:r>
              <a:rPr sz="1300" b="0" i="0" dirty="0">
                <a:solidFill>
                  <a:srgbClr val="1A1A1A"/>
                </a:solidFill>
              </a:rPr>
              <a:t>) − IFNR(</a:t>
            </a:r>
            <a:r>
              <a:rPr sz="1300" b="0" i="0" dirty="0" err="1">
                <a:solidFill>
                  <a:srgbClr val="1A1A1A"/>
                </a:solidFill>
              </a:rPr>
              <a:t>Safeline</a:t>
            </a:r>
            <a:r>
              <a:rPr sz="1300" b="0" i="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66AC"/>
                </a:solidFill>
              </a:rPr>
              <a:t>Hypothesis: mutations effective against rule-based WAF may be less effective against
ML-based WAF — different detection mechanism (token distribution vs. pattern matching)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Timeline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10972800" cy="7315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93192" y="1664208"/>
            <a:ext cx="402336" cy="402336"/>
          </a:xfrm>
          <a:prstGeom prst="ellipse">
            <a:avLst/>
          </a:prstGeom>
          <a:solidFill>
            <a:srgbClr val="2E8B57"/>
          </a:solidFill>
          <a:ln w="317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182880" y="1234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28600" y="214884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Training &amp; eval
RQ1 + RQ3</a:t>
            </a:r>
            <a:r>
              <a:rPr lang="en-US" sz="1200" b="0" i="0" dirty="0">
                <a:solidFill>
                  <a:srgbClr val="1A1A1A"/>
                </a:solidFill>
              </a:rPr>
              <a:t> union based</a:t>
            </a:r>
            <a:endParaRPr sz="1200" b="0" i="0" dirty="0">
              <a:solidFill>
                <a:srgbClr val="1A1A1A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587752" y="1664208"/>
            <a:ext cx="402336" cy="402336"/>
          </a:xfrm>
          <a:prstGeom prst="ellipse">
            <a:avLst/>
          </a:prstGeom>
          <a:solidFill>
            <a:srgbClr val="2E8B57"/>
          </a:solidFill>
          <a:ln w="317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234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148840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Figure generation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026943" y="1679290"/>
            <a:ext cx="402336" cy="402336"/>
          </a:xfrm>
          <a:prstGeom prst="ellipse">
            <a:avLst/>
          </a:prstGeom>
          <a:solidFill>
            <a:srgbClr val="F7F9FC"/>
          </a:solidFill>
          <a:ln w="317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0871" y="11658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166AC"/>
                </a:solidFill>
              </a:rPr>
              <a:t>TBD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05367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2166AC"/>
                </a:solidFill>
              </a:rPr>
              <a:t>Run eval</a:t>
            </a:r>
            <a:r>
              <a:rPr lang="en-US" sz="1200" b="0" i="0" dirty="0">
                <a:solidFill>
                  <a:srgbClr val="2166AC"/>
                </a:solidFill>
              </a:rPr>
              <a:t> Union</a:t>
            </a:r>
            <a:r>
              <a:rPr lang="en-US" sz="1200" dirty="0">
                <a:solidFill>
                  <a:srgbClr val="2166AC"/>
                </a:solidFill>
              </a:rPr>
              <a:t> based on </a:t>
            </a:r>
            <a:r>
              <a:rPr sz="1200" b="0" i="0" dirty="0" err="1">
                <a:solidFill>
                  <a:srgbClr val="2166AC"/>
                </a:solidFill>
              </a:rPr>
              <a:t>Safeline</a:t>
            </a:r>
            <a:r>
              <a:rPr lang="en-US" sz="1200" b="0" i="0" dirty="0">
                <a:solidFill>
                  <a:srgbClr val="2166AC"/>
                </a:solidFill>
              </a:rPr>
              <a:t> (RQ2)</a:t>
            </a:r>
            <a:endParaRPr sz="1200" b="0" i="0" dirty="0">
              <a:solidFill>
                <a:srgbClr val="2166AC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221503" y="1679290"/>
            <a:ext cx="402336" cy="402336"/>
          </a:xfrm>
          <a:prstGeom prst="ellipse">
            <a:avLst/>
          </a:prstGeom>
          <a:solidFill>
            <a:srgbClr val="F7F9FC"/>
          </a:solidFill>
          <a:ln w="317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1151" y="115671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166AC"/>
                </a:solidFill>
              </a:rPr>
              <a:t>TBD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9711" y="2241002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2166AC"/>
                </a:solidFill>
              </a:rPr>
              <a:t>Add corpus </a:t>
            </a:r>
            <a:r>
              <a:rPr lang="en-US" sz="1200" b="0" i="0" dirty="0">
                <a:solidFill>
                  <a:srgbClr val="2166AC"/>
                </a:solidFill>
              </a:rPr>
              <a:t>Error-based</a:t>
            </a:r>
            <a:endParaRPr sz="1200" b="0" i="0" dirty="0">
              <a:solidFill>
                <a:srgbClr val="2166A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1828800"/>
            <a:ext cx="219456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3101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166AC"/>
                </a:solidFill>
              </a:rPr>
              <a:t>Immediate priorities: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94760"/>
            <a:ext cx="11064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166AC"/>
                </a:solidFill>
              </a:rPr>
              <a:t>1. </a:t>
            </a:r>
            <a:r>
              <a:rPr lang="en-US" sz="1400" b="0" i="0" dirty="0">
                <a:solidFill>
                  <a:srgbClr val="2166AC"/>
                </a:solidFill>
              </a:rPr>
              <a:t>Evaluation eval union based on </a:t>
            </a:r>
            <a:r>
              <a:rPr lang="en-US" sz="1400" b="0" i="0" dirty="0" err="1">
                <a:solidFill>
                  <a:srgbClr val="2166AC"/>
                </a:solidFill>
              </a:rPr>
              <a:t>safeline</a:t>
            </a:r>
            <a:r>
              <a:rPr lang="en-US" sz="1400" b="0" i="0" dirty="0">
                <a:solidFill>
                  <a:srgbClr val="2166AC"/>
                </a:solidFill>
              </a:rPr>
              <a:t> RQ(2)</a:t>
            </a:r>
          </a:p>
          <a:p>
            <a:pPr algn="l"/>
            <a:r>
              <a:rPr lang="en-US" sz="1400" dirty="0">
                <a:solidFill>
                  <a:srgbClr val="2166AC"/>
                </a:solidFill>
              </a:rPr>
              <a:t>2. Add corpus error based</a:t>
            </a:r>
          </a:p>
          <a:p>
            <a:pPr algn="l"/>
            <a:r>
              <a:rPr lang="en-US" sz="1400" b="0" i="0" dirty="0">
                <a:solidFill>
                  <a:srgbClr val="2166AC"/>
                </a:solidFill>
              </a:rPr>
              <a:t>3. </a:t>
            </a:r>
            <a:r>
              <a:rPr lang="en-US" sz="1400" dirty="0">
                <a:solidFill>
                  <a:srgbClr val="2166AC"/>
                </a:solidFill>
              </a:rPr>
              <a:t>Training &amp; eval RQ1 + RQ3 (error based)</a:t>
            </a:r>
            <a:r>
              <a:rPr lang="en-US" sz="1400" b="0" i="0" dirty="0">
                <a:solidFill>
                  <a:srgbClr val="2166AC"/>
                </a:solidFill>
              </a:rPr>
              <a:t>  </a:t>
            </a:r>
            <a:endParaRPr sz="1400" b="0" i="0" dirty="0">
              <a:solidFill>
                <a:srgbClr val="2166A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636</Words>
  <Application>Microsoft Office PowerPoint</Application>
  <PresentationFormat>사용자 지정</PresentationFormat>
  <Paragraphs>103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Roby Firnando Yusuf</cp:lastModifiedBy>
  <cp:revision>66</cp:revision>
  <dcterms:created xsi:type="dcterms:W3CDTF">2013-01-27T09:14:16Z</dcterms:created>
  <dcterms:modified xsi:type="dcterms:W3CDTF">2026-06-05T06:59:40Z</dcterms:modified>
  <cp:category/>
</cp:coreProperties>
</file>