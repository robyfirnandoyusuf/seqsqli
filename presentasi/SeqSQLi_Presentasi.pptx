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PEMBUKA (±1 menit)</a:t>
            </a:r>
          </a:p>
          <a:p>
            <a:r>
              <a:t>Assalamualaikum / Selamat pagi. Perkenalkan, nama saya Roby Firnando Yusuf.</a:t>
            </a:r>
          </a:p>
          <a:p>
            <a:r>
              <a:t>Hari ini saya akan mempresentasikan penelitian saya tentang SeqSQLi — sebuah framework</a:t>
            </a:r>
          </a:p>
          <a:p>
            <a:r>
              <a:t>yang mengajarkan agen kecerdasan buatan untuk melewati sistem keamanan web secara otomatis.</a:t>
            </a:r>
          </a:p>
          <a:p>
            <a:r>
              <a:t>Penelitian ini menggunakan Deep Reinforcement Learning, atau RL mendalam.</a:t>
            </a:r>
          </a:p>
          <a:p>
            <a:r>
              <a:t>Mari kita mulai.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Presentasi ini terbagi 5 bagian.</a:t>
            </a:r>
          </a:p>
          <a:p>
            <a:r>
              <a:t>Pertama, saya jelaskan kenapa penelitian ini penting.</a:t>
            </a:r>
          </a:p>
          <a:p>
            <a:r>
              <a:t>Kedua, bagaimana sistem SeqSQLi bekerja.</a:t>
            </a:r>
          </a:p>
          <a:p>
            <a:r>
              <a:t>Ketiga, bagaimana kami melakukan eksperimen.</a:t>
            </a:r>
          </a:p>
          <a:p>
            <a:r>
              <a:t>Keempat, apa hasilnya.</a:t>
            </a:r>
          </a:p>
          <a:p>
            <a:r>
              <a:t>Terakhir, kesimpulan dan rencana ke depan.</a:t>
            </a:r>
          </a:p>
          <a:p>
            <a:r>
              <a:t>Total waktu sekitar 15 menit.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Injection adalah serangan di mana penyerang menyelipkan perintah SQL</a:t>
            </a:r>
          </a:p>
          <a:p>
            <a:r>
              <a:t>ke dalam input yang seharusnya biasa, misalnya kolom login.</a:t>
            </a:r>
          </a:p>
          <a:p/>
          <a:p>
            <a:r>
              <a:t>WAF adalah firewall khusus untuk aplikasi web. Cara kerjanya: mencocokkan</a:t>
            </a:r>
          </a:p>
          <a:p>
            <a:r>
              <a:t>teks permintaan HTTP dengan daftar pola berbahaya yang sudah diketahui.</a:t>
            </a:r>
          </a:p>
          <a:p/>
          <a:p>
            <a:r>
              <a:t>Masalahnya: kalau kita ubah tampilan luar SQL tanpa mengubah artinya,</a:t>
            </a:r>
          </a:p>
          <a:p>
            <a:r>
              <a:t>WAF bisa tidak mengenali. Inilah yang disebut WAF bypass.</a:t>
            </a:r>
          </a:p>
          <a:p/>
          <a:p>
            <a:r>
              <a:t>Contoh sederhana: SELECT bisa ditulis sElEcT, atau spasi bisa diganti tab.</a:t>
            </a:r>
          </a:p>
          <a:p>
            <a:r>
              <a:t>Artinya sama, tapi WAF yang naif tidak mengenalinya.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Penelitian sebelumnya mencoba berbagai cara bypass WAF, tapi semuanya</a:t>
            </a:r>
          </a:p>
          <a:p>
            <a:r>
              <a:t>punya kelemahan: tidak mempertimbangkan URUTAN mutasi, atau tidak belajar</a:t>
            </a:r>
          </a:p>
          <a:p>
            <a:r>
              <a:t>dari respons WAF secara langsung.</a:t>
            </a:r>
          </a:p>
          <a:p/>
          <a:p>
            <a:r>
              <a:t>SeqSQLi menjawab gap ini dengan Reinforcement Learning: agent mendapat</a:t>
            </a:r>
          </a:p>
          <a:p>
            <a:r>
              <a:t>umpan balik langsung dari WAF setiap kali mencoba mutasi, lalu belajar</a:t>
            </a:r>
          </a:p>
          <a:p>
            <a:r>
              <a:t>urutan mutasi mana yang paling efektif.</a:t>
            </a:r>
          </a:p>
          <a:p/>
          <a:p>
            <a:r>
              <a:t>Kami juga pertama kali secara formal mengukur apakah URUTAN mutasi</a:t>
            </a:r>
          </a:p>
          <a:p>
            <a:r>
              <a:t>berpengaruh — dan jawabannya: ya, sangat berpengaruh.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adalah arsitektur utama SeqSQLi.</a:t>
            </a:r>
          </a:p>
          <a:p/>
          <a:p>
            <a:r>
              <a:t>Dalam Reinforcement Learning, kita modelkan masalah sebagai MDP:</a:t>
            </a:r>
          </a:p>
          <a:p>
            <a:r>
              <a:t>- State adalah informasi yang dilihat agen: seperti apa kondisi payload sekarang</a:t>
            </a:r>
          </a:p>
          <a:p>
            <a:r>
              <a:t>- Action adalah pilihan agen: mutasi mana yang diterapkan</a:t>
            </a:r>
          </a:p>
          <a:p>
            <a:r>
              <a:t>- Reward adalah nilai yang diterima agen setelah mencoba: berhasil bypass atau tidak</a:t>
            </a:r>
          </a:p>
          <a:p>
            <a:r>
              <a:t>- Environment adalah WAF nyata yang merespons setiap permintaan HTTP</a:t>
            </a:r>
          </a:p>
          <a:p/>
          <a:p>
            <a:r>
              <a:t>Setiap episode dimulai dengan satu payload SQL. Agen bisa mencoba mutasi</a:t>
            </a:r>
          </a:p>
          <a:p>
            <a:r>
              <a:t>maksimal 15 kali. Kalau berhasil bypass WAF, episode berakhir sukses.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 kita melihat dunia lewat vektor 67 angka.</a:t>
            </a:r>
          </a:p>
          <a:p/>
          <a:p>
            <a:r>
              <a:t>Bagian pertama (14 angka): seperti daftar centang — apakah mutasi X sudah pernah diterapkan?</a:t>
            </a:r>
          </a:p>
          <a:p>
            <a:r>
              <a:t>Bagian kedua (1 angka): ini untuk union atau error injection?</a:t>
            </a:r>
          </a:p>
          <a:p>
            <a:r>
              <a:t>Bagian ketiga (51 angka): satu-hot encoding — mutasi terakhir apa yang dilakukan?</a:t>
            </a:r>
          </a:p>
          <a:p>
            <a:r>
              <a:t>   Ini sangat penting untuk belajar urutan: agen bisa tahu "saya baru pakai case mixing,</a:t>
            </a:r>
          </a:p>
          <a:p>
            <a:r>
              <a:t>   selanjutnya mungkin harus pakai whitespace encoding."</a:t>
            </a:r>
          </a:p>
          <a:p>
            <a:r>
              <a:t>Bagian keempat (1 angka): sudah langkah ke berapa? Ini mendorong agen agar efisien.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 51 operator yang bisa dipilih agen, dikelompokkan dalam 9 famili.</a:t>
            </a:r>
          </a:p>
          <a:p/>
          <a:p>
            <a:r>
              <a:t>Penting untuk dipahami: semua operator ini mengubah TAMPILAN SQL-nya saja,</a:t>
            </a:r>
          </a:p>
          <a:p>
            <a:r>
              <a:t>tapi makna dan hasilnya di database tetap sama.</a:t>
            </a:r>
          </a:p>
          <a:p/>
          <a:p>
            <a:r>
              <a:t>Contoh paling sederhana: case mixing — SELECT bisa ditulis sElEcT.</a:t>
            </a:r>
          </a:p>
          <a:p>
            <a:r>
              <a:t>Contoh yang lebih kompleks: aggregate swap — GROUP_CONCAT diganti JSON_ARRAYAGG(CONCAT()).</a:t>
            </a:r>
          </a:p>
          <a:p>
            <a:r>
              <a:t>Ini yang membuka kemampuan bypass di payload tier complex.</a:t>
            </a:r>
          </a:p>
          <a:p/>
          <a:p>
            <a:r>
              <a:t>Agen harus belajar: kapan pakai mutasi mana, dan dengan urutan bagaimana.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 mendapat nilai (reward) setiap kali mencoba mutasi.</a:t>
            </a:r>
          </a:p>
          <a:p/>
          <a:p>
            <a:r>
              <a:t>Nilai tertinggi +10 hanya diberikan kalau WAF benar-benar terlewati.</a:t>
            </a:r>
          </a:p>
          <a:p>
            <a:r>
              <a:t>Tapi karena ini jarang terjadi di awal training (reward sangat jarang),</a:t>
            </a:r>
          </a:p>
          <a:p>
            <a:r>
              <a:t>kami menambahkan PBRS — Potential-Based Reward Shaping.</a:t>
            </a:r>
          </a:p>
          <a:p/>
          <a:p>
            <a:r>
              <a:t>PBRS artinya: agen mendapat bonus kecil setiap kali berhasil 'mematikan'</a:t>
            </a:r>
          </a:p>
          <a:p>
            <a:r>
              <a:t>satu aturan WAF, meski belum sepenuhnya bypass. Ini seperti petunjuk arah</a:t>
            </a:r>
          </a:p>
          <a:p>
            <a:r>
              <a:t>yang membantu agen belajar lebih cepat tanpa mengubah hasil akhir optimal.</a:t>
            </a:r>
          </a:p>
          <a:p/>
          <a:p>
            <a:r>
              <a:t>STAGNANT mendapat nilai paling rendah supaya agen tidak malas (tidak hanya</a:t>
            </a:r>
          </a:p>
          <a:p>
            <a:r>
              <a:t>memilih aksi yang tidak mengubah apa-apa).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Kami membandingkan tiga algoritma RL on-policy yang terkenal.</a:t>
            </a:r>
          </a:p>
          <a:p/>
          <a:p>
            <a:r>
              <a:t>PPO: paling populer, dipakai di banyak penelitian. Pakai fungsi clip untuk</a:t>
            </a:r>
          </a:p>
          <a:p>
            <a:r>
              <a:t>mencegah update terlalu besar.</a:t>
            </a:r>
          </a:p>
          <a:p/>
          <a:p>
            <a:r>
              <a:t>TRPO: lebih konservatif, menjamin secara matematis bahwa setiap update</a:t>
            </a:r>
          </a:p>
          <a:p>
            <a:r>
              <a:t>tidak memperburuk kebijakan. Cocok untuk masalah reward jarang.</a:t>
            </a:r>
          </a:p>
          <a:p/>
          <a:p>
            <a:r>
              <a:t>A2C: paling sederhana, tidak ada pembatasan update. Cepat tapi tidak stabil.</a:t>
            </a:r>
          </a:p>
          <a:p/>
          <a:p>
            <a:r>
              <a:t>Ketiganya dilatih di lingkungan yang IDENTIK supaya perbandingannya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eksperimen kami dirancang untuk fair: semua algoritma diuji dengan</a:t>
            </a:r>
          </a:p>
          <a:p>
            <a:r>
              <a:t>kondisi yang persis sama — lingkungan, data, jumlah timesteps.</a:t>
            </a:r>
          </a:p>
          <a:p/>
          <a:p>
            <a:r>
              <a:t>108 payload dibagi tiga tier berdasarkan KESULITAN ATURAN WAF yang harus dikalahkan:</a:t>
            </a:r>
          </a:p>
          <a:p>
            <a:r>
              <a:t>- Trivial: hanya butuh ubah case dan spasi</a:t>
            </a:r>
          </a:p>
          <a:p>
            <a:r>
              <a:t>- Medium: plus harus bypass aturan fungsi agregat</a:t>
            </a:r>
          </a:p>
          <a:p>
            <a:r>
              <a:t>- Complex: plus aturan hex encoding dan referensi tabel langsung</a:t>
            </a:r>
          </a:p>
          <a:p/>
          <a:p>
            <a:r>
              <a:t>Tier ini yang akan menjadi kunci pembeda kinerja antar algoritma.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adalah hasil utama penelitian kami.</a:t>
            </a:r>
          </a:p>
          <a:p/>
          <a:p>
            <a:r>
              <a:t>IFNR: dari 108 payload yang awalnya semua diblok WAF, berapa persen</a:t>
            </a:r>
          </a:p>
          <a:p>
            <a:r>
              <a:t>yang berhasil di-bypass setelah agen belajar?</a:t>
            </a:r>
          </a:p>
          <a:p>
            <a:r>
              <a:t>- TRPO: 99.1% — nyaris sempurna</a:t>
            </a:r>
          </a:p>
          <a:p>
            <a:r>
              <a:t>- PPO: 88.9%</a:t>
            </a:r>
          </a:p>
          <a:p>
            <a:r>
              <a:t>- A2C: 76.9%</a:t>
            </a:r>
          </a:p>
          <a:p/>
          <a:p>
            <a:r>
              <a:t>SPBARC: berapa banyak permintaan HTTP yang dibutuhkan per bypass?</a:t>
            </a:r>
          </a:p>
          <a:p>
            <a:r>
              <a:t>TRPO butuh rata-rata hanya 6 permintaan, A2C butuh 10.</a:t>
            </a:r>
          </a:p>
          <a:p/>
          <a:p>
            <a:r>
              <a:t>Semua jauh lebih baik dari baseline acak yang hanya 3.7%.</a:t>
            </a:r>
          </a:p>
          <a:p/>
          <a:p>
            <a:r>
              <a:t>Tapi yang paling menarik: di trivial dan medium, ketiganya hampir sama!</a:t>
            </a:r>
          </a:p>
          <a:p>
            <a:r>
              <a:t>Perbedaan besar ada di tier COMPLEX.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Grafik ini menjelaskan kenapa TRPO unggul.</a:t>
            </a:r>
          </a:p>
          <a:p/>
          <a:p>
            <a:r>
              <a:t>Di tier trivial dan medium, ketiga algoritma hampir sama — memang mudah.</a:t>
            </a:r>
          </a:p>
          <a:p>
            <a:r>
              <a:t>Di tier complex, perbedaannya sangat dramatis:</a:t>
            </a:r>
          </a:p>
          <a:p>
            <a:r>
              <a:t>- TRPO: 97.2% (hampir sempurna)</a:t>
            </a:r>
          </a:p>
          <a:p>
            <a:r>
              <a:t>- PPO: 66.7%</a:t>
            </a:r>
          </a:p>
          <a:p>
            <a:r>
              <a:t>- A2C: hanya 33.3%</a:t>
            </a:r>
          </a:p>
          <a:p/>
          <a:p>
            <a:r>
              <a:t>Tier complex butuh agent melakukan 3 atau lebih mutasi secara berurutan</a:t>
            </a:r>
          </a:p>
          <a:p>
            <a:r>
              <a:t>dan benar. Satu kesalahan urutan bisa gagal total.</a:t>
            </a:r>
          </a:p>
          <a:p/>
          <a:p>
            <a:r>
              <a:t>TRPO dengan jaminan KL-bound terbukti lebih andal untuk menemukan</a:t>
            </a:r>
          </a:p>
          <a:p>
            <a:r>
              <a:t>rantai panjang yang benar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Grafik ini menunjukkan reward rata-rata per episode selama training.</a:t>
            </a:r>
          </a:p>
          <a:p/>
          <a:p>
            <a:r>
              <a:t>Yang menarik: A2C mengalami 'policy collapse' di sekitar 80.000 timestep —</a:t>
            </a:r>
          </a:p>
          <a:p>
            <a:r>
              <a:t>reward tiba-tiba jatuh drastis lalu naik lagi. Ini karena A2C tidak punya</a:t>
            </a:r>
          </a:p>
          <a:p>
            <a:r>
              <a:t>pembatasan update, sehingga satu update yang terlalu besar bisa merusak</a:t>
            </a:r>
          </a:p>
          <a:p>
            <a:r>
              <a:t>kebijakan yang sudah dipelajari.</a:t>
            </a:r>
          </a:p>
          <a:p/>
          <a:p>
            <a:r>
              <a:t>PPO dan TRPO lebih stabil karena punya mekanisme pembatasan update.</a:t>
            </a:r>
          </a:p>
          <a:p>
            <a:r>
              <a:t>TRPO akhirnya mencapai reward tertinggi karena jaminan matematisnya</a:t>
            </a:r>
          </a:p>
          <a:p>
            <a:r>
              <a:t>lebih kuat.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adalah temuan orisinal kedua penelitian kami.</a:t>
            </a:r>
          </a:p>
          <a:p/>
          <a:p>
            <a:r>
              <a:t>Kami menganalisis urutan aksi dari semua episode training. Untuk setiap</a:t>
            </a:r>
          </a:p>
          <a:p>
            <a:r>
              <a:t>pasang mutasi A-B, kami bandingkan: kalau A dulu lalu B, hasilnya berapa?</a:t>
            </a:r>
          </a:p>
          <a:p>
            <a:r>
              <a:t>Kalau B dulu lalu A, hasilnya berapa?</a:t>
            </a:r>
          </a:p>
          <a:p/>
          <a:p>
            <a:r>
              <a:t>Hasilnya: ada 35 pasang di mana URUTAN sangat berpengaruh.</a:t>
            </a:r>
          </a:p>
          <a:p>
            <a:r>
              <a:t>Contoh paling ekstrem: ident_backtick → hex_to_char.</a:t>
            </a:r>
          </a:p>
          <a:p>
            <a:r>
              <a:t>- Kalau ident_backtick dilakukan dulu, lalu hex_to_char: sukses 98%</a:t>
            </a:r>
          </a:p>
          <a:p>
            <a:r>
              <a:t>- Kalau hex_to_char dulu, lalu ident_backtick: sukses 0%</a:t>
            </a:r>
          </a:p>
          <a:p/>
          <a:p>
            <a:r>
              <a:t>Yang paling penting: pola ini SAMA di ketiga algoritma yang berbeda.</a:t>
            </a:r>
          </a:p>
          <a:p>
            <a:r>
              <a:t>Ini membuktikan bahwa ketergantungan urutan ini bukan kebetulan,</a:t>
            </a:r>
          </a:p>
          <a:p>
            <a:r>
              <a:t>tapi berasal dari struktur aturan WAF itu sendiri.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 4 kesimpulan utama penelitian ini.</a:t>
            </a:r>
          </a:p>
          <a:p/>
          <a:p>
            <a:r>
              <a:t>Pertama: RL bisa digunakan untuk melewati WAF secara otomatis dan efektif.</a:t>
            </a:r>
          </a:p>
          <a:p>
            <a:r>
              <a:t>Kedua: TRPO adalah pilihan terbaik untuk masalah ini.</a:t>
            </a:r>
          </a:p>
          <a:p>
            <a:r>
              <a:t>Ketiga: urutan mutasi bukan kebetulan — ada struktur yang bisa dipelajari.</a:t>
            </a:r>
          </a:p>
          <a:p>
            <a:r>
              <a:t>Keempat: tier complex adalah ujian sesungguhnya — di sanalah algoritma benar-benar dibedakan.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Penelitian ini punya beberapa keterbatasan yang perlu diakui.</a:t>
            </a:r>
          </a:p>
          <a:p/>
          <a:p>
            <a:r>
              <a:t>Kami hanya menguji ModSecurity — satu jenis WAF. WAF berbasis ML seperti</a:t>
            </a:r>
          </a:p>
          <a:p>
            <a:r>
              <a:t>Safeline bisa berperilaku sangat berbeda karena tidak menggunakan aturan teks.</a:t>
            </a:r>
          </a:p>
          <a:p/>
          <a:p>
            <a:r>
              <a:t>Rencana ke depan yang paling menarik adalah RQ2: apakah kebijakan yang</a:t>
            </a:r>
          </a:p>
          <a:p>
            <a:r>
              <a:t>dipelajari di ModSecurity bisa langsung bekerja di Safeline tanpa training ulang?</a:t>
            </a:r>
          </a:p>
          <a:p>
            <a:r>
              <a:t>Ini yang akan kami uji untuk paper publikasi.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Penutup. Terima kasih atas perhatiannya.</a:t>
            </a:r>
          </a:p>
          <a:p>
            <a:r>
              <a:t>Saya terbuka untuk pertanyaan dan diskusi.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6A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926080"/>
          </a:xfrm>
          <a:prstGeom prst="rect">
            <a:avLst/>
          </a:prstGeom>
          <a:solidFill>
            <a:srgbClr val="195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SeqSQLi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E0F5"/>
                </a:solidFill>
              </a:rPr>
              <a:t>Sequential SQL Injection WAF Bypass
via Deep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AACCEE"/>
                </a:solidFill>
              </a:rPr>
              <a:t>Roby Firnando Yusuf  ·  Pembimbing: Prof. Duksan Ryu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AACC"/>
                </a:solidFill>
              </a:rPr>
              <a:t>Seminar Akhir  · 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1.  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6771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2.  Framework SeqSQLi (Metode)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07238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3.  Setup Eksperimen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877056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4.  Hasil &amp; 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68172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5.  Kesimpulan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SQL Injection masih menjadi ancaman utama keamanan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  •  SQL Injection masuk OWASP Top 10 2025 — kategori Injection (A05)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  •  Serangan: penyerang menyisipkan perintah SQL ke input pengguna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  •  Contoh: login tanpa password, bocorkan seluruh isi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7792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166AC"/>
                </a:solidFill>
              </a:rPr>
              <a:t>Web Application Firewall (WAF) = pertahanan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19856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  •  WAF mendeteksi payload berbahaya dengan aturan (rule) pola teks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  •  Masalah: aturan berbasis pola bisa ditembus jika SINTAKS diubah,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43984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  •     selama MAKNA SQL-nya tetap sama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Masalah &amp; Motivasi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Mengapa perlu pendekatan RL?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5029200"/>
          </a:xfrm>
          <a:prstGeom prst="rect">
            <a:avLst/>
          </a:prstGeom>
          <a:solidFill>
            <a:srgbClr val="FFF3D6"/>
          </a:solidFill>
          <a:ln w="1905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8D00"/>
                </a:solidFill>
              </a:rPr>
              <a:t>❌  Pendekatan 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Mutasi acak (random) — tidak efisien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9191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Trial-and-error manual — lambat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92424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Grammar-based — tidak belajar dari respons WAF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05656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Tidak mempertimbangkan URUTAN mutasi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94960" cy="5029200"/>
          </a:xfrm>
          <a:prstGeom prst="rect">
            <a:avLst/>
          </a:prstGeom>
          <a:solidFill>
            <a:srgbClr val="DCE8F5"/>
          </a:solidFill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166AC"/>
                </a:solidFill>
              </a:rPr>
              <a:t>✅  SeqSQLi (Pendekatan Kami)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Agen RL belajar dari RESPONS WAF nyata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9191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Menemukan URUTAN mutasi yang optimal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9242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Dilatih online langsung lawan WAF hidup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0565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Membandingkan 3 algoritma: PPO, TRPO, A2C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Framework SeqSQLi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Dimodelkan sebagai Markov Decision Process (MDP)</a:t>
            </a:r>
          </a:p>
        </p:txBody>
      </p:sp>
      <p:pic>
        <p:nvPicPr>
          <p:cNvPr id="5" name="Picture 4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80160"/>
            <a:ext cx="521208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Komponen MDP: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7451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State 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7451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67-dim vektor observasi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60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D00"/>
                </a:solidFill>
              </a:rPr>
              <a:t>Action 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60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51 operator mutasi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461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04D"/>
                </a:solidFill>
              </a:rPr>
              <a:t>Reward (r)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respons WAF → skor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931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AC26"/>
                </a:solidFill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931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WAF ModSecurity hidup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6177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</a:rPr>
              <a:t>Episode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617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maks. 15 langkah mutasi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State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Agen 'melihat' payload sebagai vektor 67 dimensi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577840" cy="2286000"/>
          </a:xfrm>
          <a:prstGeom prst="rect">
            <a:avLst/>
          </a:prstGeom>
          <a:solidFill>
            <a:srgbClr val="DCE8F5"/>
          </a:solidFill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270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1. Payload Features
(14 dim)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0552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Apakah sudah ada komentar inline?
Ada encoding hex? Ada GBK?
→ mendeteksi mutasi yang sudah diterapkan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577840" cy="2286000"/>
          </a:xfrm>
          <a:prstGeom prst="rect">
            <a:avLst/>
          </a:prstGeom>
          <a:solidFill>
            <a:srgbClr val="DCE8F5"/>
          </a:solidFill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270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2. Injection Type Bit
(1 dim)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30552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0 = union-based
1 = error-based
→ agen tahu jenis serangan yang sedang dikerjakan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886200"/>
            <a:ext cx="5577840" cy="2286000"/>
          </a:xfrm>
          <a:prstGeom prst="rect">
            <a:avLst/>
          </a:prstGeom>
          <a:solidFill>
            <a:srgbClr val="FFF3D6"/>
          </a:solidFill>
          <a:ln w="1905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9592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8D00"/>
                </a:solidFill>
              </a:rPr>
              <a:t>3. Last-Action One-Hot
(51 dim)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99432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Mutasi apa yang baru saja dilakukan?
→ agen tidak mengulang aksi yang tidak efektif
→ agen belajar URUTAN mutasi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86200"/>
            <a:ext cx="5577840" cy="2286000"/>
          </a:xfrm>
          <a:prstGeom prst="rect">
            <a:avLst/>
          </a:prstGeom>
          <a:solidFill>
            <a:srgbClr val="EDF7ED"/>
          </a:solidFill>
          <a:ln w="1905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9592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DAC26"/>
                </a:solidFill>
              </a:rPr>
              <a:t>4. Step Counter
(1 dim)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99432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Langkah ke berapa sekarang? (0–1)
→ agen tahu sisa 'budget' mutasi
→ mendorong efisiensi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66AC"/>
                </a:solidFill>
              </a:rPr>
              <a:t>Total: 14 + 1 + 51 + 1 = 67 dimensi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Action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51 operator mutasi dari 9 famili — mengubah tampilan SQL tanpa mengubah makna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657600" cy="1417320"/>
          </a:xfrm>
          <a:prstGeom prst="rect">
            <a:avLst/>
          </a:prstGeom>
          <a:solidFill>
            <a:srgbClr val="F7F9FC"/>
          </a:solidFill>
          <a:ln w="1524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Case Mixing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SeLeCt, UnIoN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417320"/>
            <a:ext cx="3657600" cy="1417320"/>
          </a:xfrm>
          <a:prstGeom prst="rect">
            <a:avLst/>
          </a:prstGeom>
          <a:solidFill>
            <a:srgbClr val="F7F9FC"/>
          </a:solidFill>
          <a:ln w="1524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399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Whitespace 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tab, newline, %0a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417320"/>
            <a:ext cx="3657600" cy="1417320"/>
          </a:xfrm>
          <a:prstGeom prst="rect">
            <a:avLst/>
          </a:prstGeom>
          <a:solidFill>
            <a:srgbClr val="F7F9FC"/>
          </a:solidFill>
          <a:ln w="1524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Comment Insertion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/**/, /*!50000*/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17520"/>
            <a:ext cx="3657600" cy="1417320"/>
          </a:xfrm>
          <a:prstGeom prst="rect">
            <a:avLst/>
          </a:prstGeom>
          <a:solidFill>
            <a:srgbClr val="F7F9FC"/>
          </a:solidFill>
          <a:ln w="1524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08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8D00"/>
                </a:solidFill>
              </a:rPr>
              <a:t>Hex /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11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0x3a, URL-encode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017520"/>
            <a:ext cx="3657600" cy="1417320"/>
          </a:xfrm>
          <a:prstGeom prst="rect">
            <a:avLst/>
          </a:prstGeom>
          <a:solidFill>
            <a:srgbClr val="F7F9FC"/>
          </a:solidFill>
          <a:ln w="1524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3108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8D00"/>
                </a:solidFill>
              </a:rPr>
              <a:t>Identifier Tricks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3611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`users`, double-write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017520"/>
            <a:ext cx="3657600" cy="1417320"/>
          </a:xfrm>
          <a:prstGeom prst="rect">
            <a:avLst/>
          </a:prstGeom>
          <a:solidFill>
            <a:srgbClr val="F7F9FC"/>
          </a:solidFill>
          <a:ln w="1524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108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8D00"/>
                </a:solidFill>
              </a:rPr>
              <a:t>Aggregate Swap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611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JSON_ARRAYAGG(CONCAT())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17720"/>
            <a:ext cx="3657600" cy="1417320"/>
          </a:xfrm>
          <a:prstGeom prst="rect">
            <a:avLst/>
          </a:prstGeom>
          <a:solidFill>
            <a:srgbClr val="F7F9FC"/>
          </a:solidFill>
          <a:ln w="1524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604D"/>
                </a:solidFill>
              </a:rPr>
              <a:t>Null Byte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212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%00, \x00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4617720"/>
            <a:ext cx="3657600" cy="1417320"/>
          </a:xfrm>
          <a:prstGeom prst="rect">
            <a:avLst/>
          </a:prstGeom>
          <a:solidFill>
            <a:srgbClr val="F7F9FC"/>
          </a:solidFill>
          <a:ln w="1524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399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604D"/>
                </a:solidFill>
              </a:rPr>
              <a:t>Paren/Space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5212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func( ), dot prefix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617720"/>
            <a:ext cx="3657600" cy="1417320"/>
          </a:xfrm>
          <a:prstGeom prst="rect">
            <a:avLst/>
          </a:prstGeom>
          <a:solidFill>
            <a:srgbClr val="F7F9FC"/>
          </a:solidFill>
          <a:ln w="1524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4709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DAC26"/>
                </a:solidFill>
              </a:rPr>
              <a:t>Semantic Subst.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5212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AND→&amp;&amp;, OR→||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Reward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Sinyal umpan balik yang memandu agen belajar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11521440" cy="61264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990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DAC26"/>
                </a:solidFill>
              </a:rPr>
              <a:t>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39903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DAC26"/>
                </a:solidFill>
              </a:rPr>
              <a:t>+10.0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99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Payload berhasil melewati WAF, data bocor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39112"/>
            <a:ext cx="1152144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66543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8D00"/>
                </a:solidFill>
              </a:rPr>
              <a:t>SQL_ERROR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66543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08D00"/>
                </a:solidFill>
              </a:rPr>
              <a:t>+0.5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66543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Ada error SQL — payload masuk tapi salah sintaks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06624"/>
            <a:ext cx="11521440" cy="61264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340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604D"/>
                </a:solidFill>
              </a:rPr>
              <a:t>FILTERED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73405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6604D"/>
                </a:solidFill>
              </a:rPr>
              <a:t>−1.0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3405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WAF memblok dengan rule tertentu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74136"/>
            <a:ext cx="1152144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015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5555"/>
                </a:solidFill>
              </a:rPr>
              <a:t>UNKNOWN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4015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55555"/>
                </a:solidFill>
              </a:rPr>
              <a:t>−0.5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4015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Respons tidak dikenali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41648"/>
            <a:ext cx="11521440" cy="61264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604D"/>
                </a:solidFill>
              </a:rPr>
              <a:t>SERVER_ERROR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069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6604D"/>
                </a:solidFill>
              </a:rPr>
              <a:t>−1.5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69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Server crash / error 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709160"/>
            <a:ext cx="1152144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365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604D"/>
                </a:solidFill>
              </a:rPr>
              <a:t>WAF_BLOCKED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7365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6604D"/>
                </a:solidFill>
              </a:rPr>
              <a:t>−2.0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WAF memblok total (403)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376672"/>
            <a:ext cx="11521440" cy="61264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0410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604D"/>
                </a:solidFill>
              </a:rPr>
              <a:t>STAGNANT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40410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6604D"/>
                </a:solidFill>
              </a:rPr>
              <a:t>−3.0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40410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Mutasi tidak mengubah payload sama sekali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1264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66AC"/>
                </a:solidFill>
              </a:rPr>
              <a:t>+ PBRS Shaping: bonus setiap kali satu aturan WAF berhasil 'dimatikan' (policy-invariant)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Tiga Algoritma RL yang Dibandingkan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Semua on-policy, dilatih di lingkungan yang identik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749039" cy="5029200"/>
          </a:xfrm>
          <a:prstGeom prst="rect">
            <a:avLst/>
          </a:prstGeom>
          <a:solidFill>
            <a:srgbClr val="FFF3D6"/>
          </a:solidFill>
          <a:ln w="1905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8D00"/>
                </a:solidFill>
              </a:rPr>
              <a:t>PPO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Proximal Policy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Membatasi seberapa besar perubahan kebijakan per langkah dengan fungsi 'clip'.
Seperti rem yang mencegah perubahan terlalu drastis.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71600"/>
            <a:ext cx="3749039" cy="5029200"/>
          </a:xfrm>
          <a:prstGeom prst="rect">
            <a:avLst/>
          </a:prstGeom>
          <a:solidFill>
            <a:srgbClr val="DCE8F5"/>
          </a:solidFill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630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66AC"/>
                </a:solidFill>
              </a:rPr>
              <a:t>TRPO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57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Trust Region Policy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Membatasi perubahan kebijakan dengan batas KL-divergence yang keras.
Jaminan matematis bahwa kebijakan tidak memburuk.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371600"/>
            <a:ext cx="3749039" cy="5029200"/>
          </a:xfrm>
          <a:prstGeom prst="rect">
            <a:avLst/>
          </a:prstGeom>
          <a:solidFill>
            <a:srgbClr val="FDE0DC"/>
          </a:solidFill>
          <a:ln w="1905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6604D"/>
                </a:solidFill>
              </a:rPr>
              <a:t>A2C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Advantage Actor-Critic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Tidak ada pembatasan khusus — gradien langsung diterapkan.
Paling sederhana, tapi paling rentan terhadap noise reward.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Semua pakai: jaringan MLP 2 lapis (64 neuron, ReLU)  ·  150.000 timesteps  ·  GAE (λ=0.95)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Setup Eksperimen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Kondisi pengujian yang identik untuk ketiga algoritma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57784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WAF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48132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ModSecurity CRS v3.3.2
di balik nginx 1.18, sqli-labs Less-1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97480"/>
            <a:ext cx="557784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76148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http://localhost:8080/Less-1/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977639"/>
            <a:ext cx="557784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04164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108 payload SQL union-based
tervalidasi semantik sebelum training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257799"/>
            <a:ext cx="557784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21807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321807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Ubuntu 24.04 (ARM64)
121 GiB RAM, NVIDIA GB10 GPU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17320"/>
            <a:ext cx="557784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4813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D00"/>
                </a:solidFill>
              </a:rPr>
              <a:t>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48132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Trivial (36): ubah case &amp; spasi
Medium (36): + fungsi agregat
Complex (36): + hex + FROM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697480"/>
            <a:ext cx="557784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761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D00"/>
                </a:solidFill>
              </a:rPr>
              <a:t>Timesteps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6148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150.000 per algoritma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977639"/>
            <a:ext cx="557784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0416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D00"/>
                </a:solidFill>
              </a:rPr>
              <a:t>Episode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04164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Maks. 15 langkah mutasi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257799"/>
            <a:ext cx="557784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321807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D00"/>
                </a:solidFill>
              </a:rPr>
              <a:t>Evaluasi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321807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Stochastic mode, 108 payload
Metrik: IFNR &amp; SPBARC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Hasil RQ1 — Kinerja Keseluruhan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TRPO terbaik di semua metrik, pembeda utama ada di tier Complex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103120" cy="5029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Algoritma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417320"/>
            <a:ext cx="1463040" cy="5029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4721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IFNR ↑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417320"/>
            <a:ext cx="1645920" cy="5029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47218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SPBARC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417320"/>
            <a:ext cx="1463040" cy="5029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4721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Trivial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417320"/>
            <a:ext cx="1463040" cy="5029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4721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1417320"/>
            <a:ext cx="1463040" cy="5029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4721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Complex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920240"/>
            <a:ext cx="2103120" cy="640080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9842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166AC"/>
                </a:solidFill>
              </a:rPr>
              <a:t>TRPO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920240"/>
            <a:ext cx="1463040" cy="640080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19842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99.1%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1920240"/>
            <a:ext cx="1645920" cy="640080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9842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6.07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1920240"/>
            <a:ext cx="1463040" cy="640080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9842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1920240"/>
            <a:ext cx="1463040" cy="640080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9842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1920240"/>
            <a:ext cx="1463040" cy="640080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19842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166AC"/>
                </a:solidFill>
              </a:rPr>
              <a:t>97.2%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06040"/>
            <a:ext cx="2103120" cy="640080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700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8D00"/>
                </a:solidFill>
              </a:rPr>
              <a:t>PPO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2606040"/>
            <a:ext cx="1463040" cy="640080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26700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88.9%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2606040"/>
            <a:ext cx="1645920" cy="640080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26700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6.89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2606040"/>
            <a:ext cx="1463040" cy="640080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26700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2606040"/>
            <a:ext cx="1463040" cy="640080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26700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1080" y="2606040"/>
            <a:ext cx="1463040" cy="640080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6700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8D00"/>
                </a:solidFill>
              </a:rPr>
              <a:t>66.7%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291839"/>
            <a:ext cx="2103120" cy="64008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355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604D"/>
                </a:solidFill>
              </a:rPr>
              <a:t>A2C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3291839"/>
            <a:ext cx="1463040" cy="64008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0" y="33558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76.9%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3291839"/>
            <a:ext cx="1645920" cy="64008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33558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10.08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3291839"/>
            <a:ext cx="1463040" cy="64008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33558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78040" y="3291839"/>
            <a:ext cx="1463040" cy="64008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60" y="33558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97.2%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41080" y="3291839"/>
            <a:ext cx="1463040" cy="64008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33558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604D"/>
                </a:solidFill>
              </a:rPr>
              <a:t>33.3%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206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IFNR = persentase payload yang berhasil di-bypass  |  SPBARC = rata-rata permintaan HTTP per bypass (lebih kecil = lebih efisien)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663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Semua algoritma jauh melampaui baseline acak (IFNR 3.7%, SPBARC 216)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Analisis per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Tier Complex = pembeda utama — butuh rantai mutasi lebih panjang</a:t>
            </a:r>
          </a:p>
        </p:txBody>
      </p:sp>
      <p:pic>
        <p:nvPicPr>
          <p:cNvPr id="5" name="Picture 4" descr="fig_tier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463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Kenapa Complex lebih susah?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4069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 Trivial: hanya ubah case
&amp; whitespace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108960"/>
            <a:ext cx="4069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 Medium: + 1 aturan tambahan
(fungsi agregat GROUP_CONCAT)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206240"/>
            <a:ext cx="4069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→  Complex: + 2 aturan lagi
(hex literal + FROM users)
→ rantai mutasi LEBIH PANJANG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5303520"/>
            <a:ext cx="4069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•  TRPO (hard KL-bound) terbukti
lebih stabil untuk rantai panjang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Kurva Konvergensi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TRPO paling stabil, A2C mengalami instabilitas di ~80k timestep</a:t>
            </a:r>
          </a:p>
        </p:txBody>
      </p:sp>
      <p:pic>
        <p:nvPicPr>
          <p:cNvPr id="5" name="Picture 4" descr="fig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86868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84080" y="25603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66AC"/>
                </a:solidFill>
              </a:rPr>
              <a:t>— TRPO: Konvergen tertinggi, stabil setelah 40k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3749039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8D00"/>
                </a:solidFill>
              </a:rPr>
              <a:t>— PPO: Konvergen lebih cepat awal, plateau di bawah TRPO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49377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604D"/>
                </a:solidFill>
              </a:rPr>
              <a:t>— A2C: Instabilitas di 80k = update tanpa batas menyebabkan collapse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Hasil RQ3 — Apakah Urutan Mutasi Penting?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0F5"/>
                </a:solidFill>
              </a:rPr>
              <a:t>Ya — ada 35 pasang mutasi yang berhasil hanya jika diurut dengan benar</a:t>
            </a:r>
          </a:p>
        </p:txBody>
      </p:sp>
      <p:pic>
        <p:nvPicPr>
          <p:cNvPr id="5" name="Picture 4" descr="fig_ordering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758952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Temuan kunci: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965960"/>
            <a:ext cx="37947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029968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35 pasang mutasi: berhasil jika A→B,
gagal jika B→A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3108960"/>
            <a:ext cx="37947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172968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Contoh ekstrem:
ident_backtick → hex_to_char
Forward: 98% ✓
Reversed: 0% 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4251960"/>
            <a:ext cx="37947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4315968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Pola ini KONSISTEN di 3 algoritma
→ bukan artefak satu algoritma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5394960"/>
            <a:ext cx="37947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5458968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Artinya: urutan berasal dari
STRUKTUR ATURAN WAF itu sendiri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1143000"/>
          </a:xfrm>
          <a:prstGeom prst="rect">
            <a:avLst/>
          </a:prstGeom>
          <a:solidFill>
            <a:srgbClr val="F7F9FC"/>
          </a:solidFill>
          <a:ln w="1651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1.  SeqSQLi berhasil mengajarkan agen RL untuk melewati WAF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TRPO: 99.1% bypass rate — nyaris sempurna dari 108 payload yang awalnya semua diblok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51760"/>
            <a:ext cx="11430000" cy="1143000"/>
          </a:xfrm>
          <a:prstGeom prst="rect">
            <a:avLst/>
          </a:prstGeom>
          <a:solidFill>
            <a:srgbClr val="F7F9FC"/>
          </a:solidFill>
          <a:ln w="1651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157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2.  TRPO &gt; PPO &gt; A2C di semua metrik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Jaminan trust-region/KL-bound TRPO terbukti lebih unggul di masalah reward jarang &amp; episode panjang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11430000" cy="1143000"/>
          </a:xfrm>
          <a:prstGeom prst="rect">
            <a:avLst/>
          </a:prstGeom>
          <a:solidFill>
            <a:srgbClr val="F7F9FC"/>
          </a:solidFill>
          <a:ln w="1651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9592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DAC26"/>
                </a:solidFill>
              </a:rPr>
              <a:t>3.  Urutan mutasi adalah sinyal yang bisa dipelajari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35 pasang consensus: urutan mencerminkan topologi aturan WAF, bukan artefak algoritma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12079"/>
            <a:ext cx="11430000" cy="1143000"/>
          </a:xfrm>
          <a:prstGeom prst="rect">
            <a:avLst/>
          </a:prstGeom>
          <a:solidFill>
            <a:srgbClr val="F7F9FC"/>
          </a:solidFill>
          <a:ln w="1651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2760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8D00"/>
                </a:solidFill>
              </a:rPr>
              <a:t>4.  Tier Complex = diskriminator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7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Payload yang butuh rantai panjang membedakan kemampuan nyata ketiga algoritma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Keterbatasan &amp; Rencana ke Depan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577840" cy="5120640"/>
          </a:xfrm>
          <a:prstGeom prst="rect">
            <a:avLst/>
          </a:prstGeom>
          <a:solidFill>
            <a:srgbClr val="F7F9FC"/>
          </a:solidFill>
          <a:ln w="1905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6604D"/>
                </a:solidFill>
              </a:rPr>
              <a:t>Keterbatasan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 Hanya satu WAF (ModSecurity)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 Hanya injection union-based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148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 108 payload, satu injection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206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 Belum diuji di WAF komersial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5120640"/>
          </a:xfrm>
          <a:prstGeom prst="rect">
            <a:avLst/>
          </a:prstGeom>
          <a:solidFill>
            <a:srgbClr val="F7F9FC"/>
          </a:solidFill>
          <a:ln w="1905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DAC26"/>
                </a:solidFill>
              </a:rPr>
              <a:t>Rencana ke Depan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 RQ2: Uji transfer ke Safeline CE
(WAF berbasis ML, bukan rule)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1089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 Corpus error-based (216 payload)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1148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 Eksplorasi XSS &amp; second-order SQLi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51206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 Paper publikasi ke jurnal KIIT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6A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2286000"/>
          </a:xfrm>
          <a:prstGeom prst="rect">
            <a:avLst/>
          </a:prstGeom>
          <a:solidFill>
            <a:srgbClr val="195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CE0F5"/>
                </a:solidFill>
              </a:rPr>
              <a:t>Pertanyaan?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AACC"/>
                </a:solidFill>
              </a:rPr>
              <a:t>Roby Firnando Yusuf  ·  roby@example.com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799BB"/>
                </a:solidFill>
              </a:rPr>
              <a:t>Kode &amp; data: github.com/[repo]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